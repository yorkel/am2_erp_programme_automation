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53" r:id="rId2"/>
    <p:sldId id="335" r:id="rId3"/>
    <p:sldId id="352" r:id="rId4"/>
    <p:sldId id="336" r:id="rId5"/>
    <p:sldId id="321" r:id="rId6"/>
    <p:sldId id="322" r:id="rId7"/>
    <p:sldId id="354" r:id="rId8"/>
    <p:sldId id="332" r:id="rId9"/>
    <p:sldId id="339" r:id="rId10"/>
    <p:sldId id="326" r:id="rId11"/>
    <p:sldId id="355" r:id="rId12"/>
    <p:sldId id="351" r:id="rId13"/>
    <p:sldId id="347" r:id="rId14"/>
    <p:sldId id="357" r:id="rId15"/>
    <p:sldId id="328" r:id="rId16"/>
    <p:sldId id="358" r:id="rId17"/>
    <p:sldId id="343" r:id="rId18"/>
    <p:sldId id="360" r:id="rId19"/>
    <p:sldId id="341" r:id="rId20"/>
    <p:sldId id="342" r:id="rId21"/>
  </p:sldIdLst>
  <p:sldSz cx="9144000" cy="5143500" type="screen16x9"/>
  <p:notesSz cx="20104100" cy="11309350"/>
  <p:custDataLst>
    <p:tags r:id="rId23"/>
  </p:custDataLst>
  <p:defaultTextStyle>
    <a:defPPr>
      <a:defRPr lang="en-US"/>
    </a:defPPr>
    <a:lvl1pPr marL="0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1pPr>
    <a:lvl2pPr marL="207919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2pPr>
    <a:lvl3pPr marL="415837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3pPr>
    <a:lvl4pPr marL="623756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4pPr>
    <a:lvl5pPr marL="831674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5pPr>
    <a:lvl6pPr marL="1039593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6pPr>
    <a:lvl7pPr marL="1247511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7pPr>
    <a:lvl8pPr marL="1455430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8pPr>
    <a:lvl9pPr marL="1663348" algn="l" defTabSz="415837" rtl="0" eaLnBrk="1" latinLnBrk="0" hangingPunct="1">
      <a:defRPr sz="81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0" userDrawn="1">
          <p15:clr>
            <a:srgbClr val="A4A3A4"/>
          </p15:clr>
        </p15:guide>
        <p15:guide id="2" pos="98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70D603F-370C-D5F4-4E3F-E002903958BA}" name="Moss, Gemma" initials="GM" userId="S::utnvpjg@ucl.ac.uk::22fccb06-6f32-4590-955a-511ea5f75de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FE6"/>
    <a:srgbClr val="D7F6D9"/>
    <a:srgbClr val="FFD3D4"/>
    <a:srgbClr val="FE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6"/>
    <p:restoredTop sz="84745"/>
  </p:normalViewPr>
  <p:slideViewPr>
    <p:cSldViewPr snapToGrid="0">
      <p:cViewPr varScale="1">
        <p:scale>
          <a:sx n="133" d="100"/>
          <a:sy n="133" d="100"/>
        </p:scale>
        <p:origin x="400" y="184"/>
      </p:cViewPr>
      <p:guideLst>
        <p:guide orient="horz" pos="1310"/>
        <p:guide pos="9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60CF8-BC35-7245-830B-A228DC48F78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34D51-F575-ED42-9625-E1B013645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94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1pPr>
    <a:lvl2pPr marL="207919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2pPr>
    <a:lvl3pPr marL="415837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3pPr>
    <a:lvl4pPr marL="623756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4pPr>
    <a:lvl5pPr marL="831674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5pPr>
    <a:lvl6pPr marL="1039593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6pPr>
    <a:lvl7pPr marL="1247511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7pPr>
    <a:lvl8pPr marL="1455430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8pPr>
    <a:lvl9pPr marL="1663348" algn="l" defTabSz="415837" rtl="0" eaLnBrk="1" latinLnBrk="0" hangingPunct="1">
      <a:defRPr sz="54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2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542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7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708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49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158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/>
              <a:t>Note: Selected organisations represent key policy, research and practitioner voices. </a:t>
            </a:r>
            <a:endParaRPr lang="en-US" sz="800" i="1" dirty="0">
              <a:latin typeface="+mn-lt"/>
            </a:endParaRPr>
          </a:p>
          <a:p>
            <a:pPr marL="0" marR="0" lvl="0" indent="0" algn="l" defTabSz="4158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i="1" dirty="0"/>
              <a:t>Supply &amp; Pipeline </a:t>
            </a:r>
            <a:r>
              <a:rPr lang="en-US" sz="800" b="0" dirty="0"/>
              <a:t>is the most common frame; </a:t>
            </a:r>
            <a:r>
              <a:rPr lang="en-US" sz="800" i="1" dirty="0"/>
              <a:t>Professional Development </a:t>
            </a:r>
            <a:r>
              <a:rPr lang="en-US" sz="800" b="0" dirty="0"/>
              <a:t>and </a:t>
            </a:r>
            <a:r>
              <a:rPr lang="en-US" sz="800" i="1" dirty="0"/>
              <a:t>Crisis &amp; Reform </a:t>
            </a:r>
            <a:r>
              <a:rPr lang="en-US" sz="800" b="0" dirty="0"/>
              <a:t>are similarly prevalent; </a:t>
            </a:r>
            <a:r>
              <a:rPr lang="en-US" sz="800" i="1" dirty="0"/>
              <a:t>Diversity &amp; Equity </a:t>
            </a:r>
            <a:r>
              <a:rPr lang="en-US" sz="800" b="0" dirty="0"/>
              <a:t>is the least represented.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50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Prominence of each frame over time relative to the total TRRD coverage each month, with a 3-month rolling average to smooth out the natural spikiness of monthly newsletter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28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C5C3B-EB63-4BF0-B610-5D4C5270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4E467-CE48-969A-7470-3DF9A4BC7C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D84B3-D45B-F392-F31A-54886BEC9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158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Schools Week, BERA, Teacher Tapp, Education Support Charity and UK Government discuss teacher and MH&amp;W specifically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A27C3-AA59-6A6B-67EA-6600CEC9A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16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5E6E6-B5A2-7764-BD10-034112E4C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D1187-13B1-A663-7D7F-5546E07B5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8AA1A-60BB-D379-4617-C770EA7BA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A2688-2AA7-EE4F-024C-1DFFB01D1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34D51-F575-ED42-9625-E1B013645CE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64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2381" y="2381"/>
            <a:ext cx="9139379" cy="5138590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0" y="11298085"/>
                </a:moveTo>
                <a:lnTo>
                  <a:pt x="20093629" y="11298085"/>
                </a:lnTo>
                <a:lnTo>
                  <a:pt x="20093629" y="0"/>
                </a:lnTo>
                <a:lnTo>
                  <a:pt x="0" y="0"/>
                </a:lnTo>
                <a:lnTo>
                  <a:pt x="0" y="11298085"/>
                </a:lnTo>
                <a:close/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8" name="bg object 18"/>
          <p:cNvSpPr/>
          <p:nvPr/>
        </p:nvSpPr>
        <p:spPr>
          <a:xfrm>
            <a:off x="4286248" y="285729"/>
            <a:ext cx="4572289" cy="4571679"/>
          </a:xfrm>
          <a:custGeom>
            <a:avLst/>
            <a:gdLst/>
            <a:ahLst/>
            <a:cxnLst/>
            <a:rect l="l" t="t" r="r" b="b"/>
            <a:pathLst>
              <a:path w="10052685" h="10052050">
                <a:moveTo>
                  <a:pt x="7852975" y="0"/>
                </a:moveTo>
                <a:lnTo>
                  <a:pt x="0" y="7852975"/>
                </a:lnTo>
                <a:lnTo>
                  <a:pt x="2198582" y="10052049"/>
                </a:lnTo>
                <a:lnTo>
                  <a:pt x="10041003" y="10041003"/>
                </a:lnTo>
                <a:lnTo>
                  <a:pt x="10052060" y="2198582"/>
                </a:lnTo>
                <a:lnTo>
                  <a:pt x="7852975" y="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57C2D02-A06F-EB92-94AD-D0B3DB2014C3}"/>
              </a:ext>
            </a:extLst>
          </p:cNvPr>
          <p:cNvSpPr txBox="1"/>
          <p:nvPr userDrawn="1"/>
        </p:nvSpPr>
        <p:spPr>
          <a:xfrm>
            <a:off x="1184086" y="532755"/>
            <a:ext cx="2404825" cy="598384"/>
          </a:xfrm>
          <a:prstGeom prst="rect">
            <a:avLst/>
          </a:prstGeom>
        </p:spPr>
        <p:txBody>
          <a:bodyPr vert="horz" wrap="square" lIns="0" tIns="46497" rIns="0" bIns="0" rtlCol="0">
            <a:spAutoFit/>
          </a:bodyPr>
          <a:lstStyle/>
          <a:p>
            <a:pPr marL="5776" marR="2310">
              <a:lnSpc>
                <a:spcPts val="1596"/>
              </a:lnSpc>
              <a:spcBef>
                <a:spcPts val="366"/>
              </a:spcBef>
            </a:pPr>
            <a:r>
              <a:rPr sz="1592" spc="2" dirty="0">
                <a:solidFill>
                  <a:srgbClr val="FFFFFF"/>
                </a:solidFill>
                <a:latin typeface="Arial"/>
                <a:cs typeface="Arial"/>
              </a:rPr>
              <a:t>ESRC </a:t>
            </a:r>
            <a:r>
              <a:rPr sz="1592" spc="-2" dirty="0">
                <a:solidFill>
                  <a:srgbClr val="FFFFFF"/>
                </a:solidFill>
                <a:latin typeface="Arial Black"/>
                <a:cs typeface="Arial Black"/>
              </a:rPr>
              <a:t>Education  Research</a:t>
            </a:r>
            <a:r>
              <a:rPr sz="1592" spc="-43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92" spc="11" dirty="0">
                <a:solidFill>
                  <a:srgbClr val="FFFFFF"/>
                </a:solidFill>
                <a:latin typeface="Arial Black"/>
                <a:cs typeface="Arial Black"/>
              </a:rPr>
              <a:t>Programme</a:t>
            </a:r>
            <a:endParaRPr sz="1592" dirty="0">
              <a:latin typeface="Arial Black"/>
              <a:cs typeface="Arial Black"/>
            </a:endParaRPr>
          </a:p>
          <a:p>
            <a:pPr marL="5776">
              <a:lnSpc>
                <a:spcPts val="1119"/>
              </a:lnSpc>
            </a:pPr>
            <a:r>
              <a:rPr sz="1001" spc="-2" dirty="0">
                <a:solidFill>
                  <a:srgbClr val="FFFFFF"/>
                </a:solidFill>
                <a:latin typeface="Arial"/>
                <a:cs typeface="Arial"/>
              </a:rPr>
              <a:t>Empowering</a:t>
            </a:r>
            <a:r>
              <a:rPr sz="1001" spc="-5" dirty="0">
                <a:solidFill>
                  <a:srgbClr val="FFFFFF"/>
                </a:solidFill>
                <a:latin typeface="Arial"/>
                <a:cs typeface="Arial"/>
              </a:rPr>
              <a:t> educators</a:t>
            </a:r>
            <a:endParaRPr sz="1001" dirty="0">
              <a:latin typeface="Arial"/>
              <a:cs typeface="Arial"/>
            </a:endParaRPr>
          </a:p>
        </p:txBody>
      </p:sp>
      <p:grpSp>
        <p:nvGrpSpPr>
          <p:cNvPr id="7" name="object 4">
            <a:extLst>
              <a:ext uri="{FF2B5EF4-FFF2-40B4-BE49-F238E27FC236}">
                <a16:creationId xmlns:a16="http://schemas.microsoft.com/office/drawing/2014/main" id="{FCE0DEAE-80E4-E0D3-3E56-307D39D51937}"/>
              </a:ext>
            </a:extLst>
          </p:cNvPr>
          <p:cNvGrpSpPr/>
          <p:nvPr userDrawn="1"/>
        </p:nvGrpSpPr>
        <p:grpSpPr>
          <a:xfrm>
            <a:off x="587101" y="571458"/>
            <a:ext cx="552183" cy="552471"/>
            <a:chOff x="1290191" y="1256502"/>
            <a:chExt cx="1214120" cy="1214755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FDF30155-6943-2EF1-0C7C-9DAE029FBD9B}"/>
                </a:ext>
              </a:extLst>
            </p:cNvPr>
            <p:cNvSpPr/>
            <p:nvPr/>
          </p:nvSpPr>
          <p:spPr>
            <a:xfrm>
              <a:off x="1917679" y="1256990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39">
                  <a:moveTo>
                    <a:pt x="128257" y="0"/>
                  </a:moveTo>
                  <a:lnTo>
                    <a:pt x="0" y="128226"/>
                  </a:lnTo>
                  <a:lnTo>
                    <a:pt x="649" y="585605"/>
                  </a:lnTo>
                  <a:lnTo>
                    <a:pt x="458027" y="586254"/>
                  </a:lnTo>
                  <a:lnTo>
                    <a:pt x="586254" y="457996"/>
                  </a:lnTo>
                  <a:lnTo>
                    <a:pt x="128257" y="0"/>
                  </a:lnTo>
                  <a:close/>
                </a:path>
              </a:pathLst>
            </a:custGeom>
            <a:solidFill>
              <a:srgbClr val="82B4C4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62D6517C-F790-FC76-4187-6758B984AB58}"/>
                </a:ext>
              </a:extLst>
            </p:cNvPr>
            <p:cNvSpPr/>
            <p:nvPr/>
          </p:nvSpPr>
          <p:spPr>
            <a:xfrm>
              <a:off x="1917679" y="1884479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39">
                  <a:moveTo>
                    <a:pt x="458027" y="0"/>
                  </a:moveTo>
                  <a:lnTo>
                    <a:pt x="649" y="649"/>
                  </a:lnTo>
                  <a:lnTo>
                    <a:pt x="0" y="458027"/>
                  </a:lnTo>
                  <a:lnTo>
                    <a:pt x="128257" y="586254"/>
                  </a:lnTo>
                  <a:lnTo>
                    <a:pt x="586254" y="128257"/>
                  </a:lnTo>
                  <a:lnTo>
                    <a:pt x="458027" y="0"/>
                  </a:lnTo>
                  <a:close/>
                </a:path>
              </a:pathLst>
            </a:custGeom>
            <a:solidFill>
              <a:srgbClr val="1299A7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FE1D095F-C8A7-B99D-CF53-1D35A1B8FF44}"/>
                </a:ext>
              </a:extLst>
            </p:cNvPr>
            <p:cNvSpPr/>
            <p:nvPr/>
          </p:nvSpPr>
          <p:spPr>
            <a:xfrm>
              <a:off x="1290191" y="1256502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39">
                  <a:moveTo>
                    <a:pt x="457996" y="0"/>
                  </a:moveTo>
                  <a:lnTo>
                    <a:pt x="0" y="457996"/>
                  </a:lnTo>
                  <a:lnTo>
                    <a:pt x="128226" y="586254"/>
                  </a:lnTo>
                  <a:lnTo>
                    <a:pt x="585605" y="585605"/>
                  </a:lnTo>
                  <a:lnTo>
                    <a:pt x="586254" y="128226"/>
                  </a:lnTo>
                  <a:lnTo>
                    <a:pt x="457996" y="0"/>
                  </a:lnTo>
                  <a:close/>
                </a:path>
              </a:pathLst>
            </a:custGeom>
            <a:solidFill>
              <a:srgbClr val="94D7E2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C8010E09-24A8-34DD-3B27-64A62E7E24F6}"/>
                </a:ext>
              </a:extLst>
            </p:cNvPr>
            <p:cNvSpPr/>
            <p:nvPr/>
          </p:nvSpPr>
          <p:spPr>
            <a:xfrm>
              <a:off x="1290191" y="1883990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39">
                  <a:moveTo>
                    <a:pt x="128226" y="0"/>
                  </a:moveTo>
                  <a:lnTo>
                    <a:pt x="0" y="128257"/>
                  </a:lnTo>
                  <a:lnTo>
                    <a:pt x="457996" y="586254"/>
                  </a:lnTo>
                  <a:lnTo>
                    <a:pt x="586254" y="458027"/>
                  </a:lnTo>
                  <a:lnTo>
                    <a:pt x="585605" y="649"/>
                  </a:lnTo>
                  <a:lnTo>
                    <a:pt x="128226" y="0"/>
                  </a:lnTo>
                  <a:close/>
                </a:path>
              </a:pathLst>
            </a:custGeom>
            <a:solidFill>
              <a:srgbClr val="2E5FAC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A2270D8F-27D3-6A75-F0CA-E8CE49EDAB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787" y="1569617"/>
            <a:ext cx="2692672" cy="1119261"/>
          </a:xfrm>
        </p:spPr>
        <p:txBody>
          <a:bodyPr/>
          <a:lstStyle>
            <a:lvl1pPr>
              <a:lnSpc>
                <a:spcPct val="90000"/>
              </a:lnSpc>
              <a:defRPr lang="en-US" sz="3638" kern="1200" spc="-2" dirty="0">
                <a:solidFill>
                  <a:srgbClr val="FFFFFF"/>
                </a:solidFill>
                <a:latin typeface="Arial Black"/>
                <a:ea typeface="+mn-ea"/>
                <a:cs typeface="Arial Black"/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D1610E-DCB5-0D04-AD64-0E52517B8A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1326" y="2660780"/>
            <a:ext cx="2692671" cy="760412"/>
          </a:xfrm>
        </p:spPr>
        <p:txBody>
          <a:bodyPr/>
          <a:lstStyle>
            <a:lvl1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2pPr>
            <a:lvl3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3pPr>
            <a:lvl4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4pPr>
            <a:lvl5pPr>
              <a:defRPr lang="en-US" sz="1956" b="1" kern="1200" spc="2" dirty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GB" dirty="0"/>
              <a:t>Subtitle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7"/>
          <p:cNvSpPr/>
          <p:nvPr/>
        </p:nvSpPr>
        <p:spPr>
          <a:xfrm>
            <a:off x="2381" y="2381"/>
            <a:ext cx="9139379" cy="5138590"/>
          </a:xfrm>
          <a:custGeom>
            <a:avLst/>
            <a:gdLst/>
            <a:ahLst/>
            <a:cxnLst/>
            <a:rect l="l" t="t" r="r" b="b"/>
            <a:pathLst>
              <a:path w="20093940" h="11298555">
                <a:moveTo>
                  <a:pt x="0" y="11298085"/>
                </a:moveTo>
                <a:lnTo>
                  <a:pt x="20093629" y="11298085"/>
                </a:lnTo>
                <a:lnTo>
                  <a:pt x="20093629" y="0"/>
                </a:lnTo>
                <a:lnTo>
                  <a:pt x="0" y="0"/>
                </a:lnTo>
                <a:lnTo>
                  <a:pt x="0" y="11298085"/>
                </a:lnTo>
                <a:close/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2270D8F-27D3-6A75-F0CA-E8CE49EDAB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787" y="1166170"/>
            <a:ext cx="2692672" cy="1119261"/>
          </a:xfrm>
        </p:spPr>
        <p:txBody>
          <a:bodyPr/>
          <a:lstStyle>
            <a:lvl1pPr>
              <a:lnSpc>
                <a:spcPct val="90000"/>
              </a:lnSpc>
              <a:defRPr lang="en-US" sz="3638" kern="1200" spc="-2" dirty="0">
                <a:solidFill>
                  <a:srgbClr val="FFFFFF"/>
                </a:solidFill>
                <a:latin typeface="Arial Black"/>
                <a:ea typeface="+mn-ea"/>
                <a:cs typeface="Arial Black"/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9D1610E-DCB5-0D04-AD64-0E52517B8A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1326" y="2257333"/>
            <a:ext cx="2692671" cy="760412"/>
          </a:xfrm>
        </p:spPr>
        <p:txBody>
          <a:bodyPr/>
          <a:lstStyle>
            <a:lvl1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1pPr>
            <a:lvl2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2pPr>
            <a:lvl3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3pPr>
            <a:lvl4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4pPr>
            <a:lvl5pPr>
              <a:defRPr lang="en-US" sz="1956" b="1" kern="1200" spc="2" dirty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GB" dirty="0"/>
              <a:t>Subtitle</a:t>
            </a:r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739DFF96-0C33-704D-A6F9-01B6142C0DA6}"/>
              </a:ext>
            </a:extLst>
          </p:cNvPr>
          <p:cNvSpPr txBox="1"/>
          <p:nvPr userDrawn="1"/>
        </p:nvSpPr>
        <p:spPr>
          <a:xfrm>
            <a:off x="1184086" y="4037709"/>
            <a:ext cx="2404825" cy="598384"/>
          </a:xfrm>
          <a:prstGeom prst="rect">
            <a:avLst/>
          </a:prstGeom>
        </p:spPr>
        <p:txBody>
          <a:bodyPr vert="horz" wrap="square" lIns="0" tIns="46497" rIns="0" bIns="0" rtlCol="0">
            <a:spAutoFit/>
          </a:bodyPr>
          <a:lstStyle/>
          <a:p>
            <a:pPr marL="5776" marR="2310">
              <a:lnSpc>
                <a:spcPts val="1596"/>
              </a:lnSpc>
              <a:spcBef>
                <a:spcPts val="366"/>
              </a:spcBef>
            </a:pPr>
            <a:r>
              <a:rPr sz="1592" spc="2" dirty="0">
                <a:solidFill>
                  <a:srgbClr val="FFFFFF"/>
                </a:solidFill>
                <a:latin typeface="Arial"/>
                <a:cs typeface="Arial"/>
              </a:rPr>
              <a:t>ESRC </a:t>
            </a:r>
            <a:r>
              <a:rPr sz="1592" spc="-2" dirty="0">
                <a:solidFill>
                  <a:srgbClr val="FFFFFF"/>
                </a:solidFill>
                <a:latin typeface="Arial Black"/>
                <a:cs typeface="Arial Black"/>
              </a:rPr>
              <a:t>Education  Research</a:t>
            </a:r>
            <a:r>
              <a:rPr sz="1592" spc="-43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92" spc="11" dirty="0">
                <a:solidFill>
                  <a:srgbClr val="FFFFFF"/>
                </a:solidFill>
                <a:latin typeface="Arial Black"/>
                <a:cs typeface="Arial Black"/>
              </a:rPr>
              <a:t>Programme</a:t>
            </a:r>
            <a:endParaRPr sz="1592" dirty="0">
              <a:latin typeface="Arial Black"/>
              <a:cs typeface="Arial Black"/>
            </a:endParaRPr>
          </a:p>
          <a:p>
            <a:pPr marL="5776">
              <a:lnSpc>
                <a:spcPts val="1119"/>
              </a:lnSpc>
            </a:pPr>
            <a:r>
              <a:rPr sz="1001" spc="-2" dirty="0">
                <a:solidFill>
                  <a:srgbClr val="FFFFFF"/>
                </a:solidFill>
                <a:latin typeface="Arial"/>
                <a:cs typeface="Arial"/>
              </a:rPr>
              <a:t>Empowering</a:t>
            </a:r>
            <a:r>
              <a:rPr sz="1001" spc="-5" dirty="0">
                <a:solidFill>
                  <a:srgbClr val="FFFFFF"/>
                </a:solidFill>
                <a:latin typeface="Arial"/>
                <a:cs typeface="Arial"/>
              </a:rPr>
              <a:t> educators</a:t>
            </a:r>
            <a:endParaRPr sz="1001" dirty="0">
              <a:latin typeface="Arial"/>
              <a:cs typeface="Arial"/>
            </a:endParaRPr>
          </a:p>
        </p:txBody>
      </p:sp>
      <p:grpSp>
        <p:nvGrpSpPr>
          <p:cNvPr id="13" name="object 7">
            <a:extLst>
              <a:ext uri="{FF2B5EF4-FFF2-40B4-BE49-F238E27FC236}">
                <a16:creationId xmlns:a16="http://schemas.microsoft.com/office/drawing/2014/main" id="{C6707C67-2216-01CC-592B-0EF2B78B0A1F}"/>
              </a:ext>
            </a:extLst>
          </p:cNvPr>
          <p:cNvGrpSpPr/>
          <p:nvPr userDrawn="1"/>
        </p:nvGrpSpPr>
        <p:grpSpPr>
          <a:xfrm>
            <a:off x="587101" y="4076413"/>
            <a:ext cx="552183" cy="552471"/>
            <a:chOff x="1290191" y="8963073"/>
            <a:chExt cx="1214120" cy="1214755"/>
          </a:xfrm>
        </p:grpSpPr>
        <p:sp>
          <p:nvSpPr>
            <p:cNvPr id="14" name="object 8">
              <a:extLst>
                <a:ext uri="{FF2B5EF4-FFF2-40B4-BE49-F238E27FC236}">
                  <a16:creationId xmlns:a16="http://schemas.microsoft.com/office/drawing/2014/main" id="{ED24B070-082C-CA9B-ACF7-EE3FD5A135F2}"/>
                </a:ext>
              </a:extLst>
            </p:cNvPr>
            <p:cNvSpPr/>
            <p:nvPr/>
          </p:nvSpPr>
          <p:spPr>
            <a:xfrm>
              <a:off x="1917679" y="8963562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40">
                  <a:moveTo>
                    <a:pt x="128257" y="0"/>
                  </a:moveTo>
                  <a:lnTo>
                    <a:pt x="0" y="128226"/>
                  </a:lnTo>
                  <a:lnTo>
                    <a:pt x="649" y="585605"/>
                  </a:lnTo>
                  <a:lnTo>
                    <a:pt x="458027" y="586254"/>
                  </a:lnTo>
                  <a:lnTo>
                    <a:pt x="586254" y="457996"/>
                  </a:lnTo>
                  <a:lnTo>
                    <a:pt x="128257" y="0"/>
                  </a:lnTo>
                  <a:close/>
                </a:path>
              </a:pathLst>
            </a:custGeom>
            <a:solidFill>
              <a:srgbClr val="82B4C4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976F75BC-E595-7B6E-0436-D8DE14A91327}"/>
                </a:ext>
              </a:extLst>
            </p:cNvPr>
            <p:cNvSpPr/>
            <p:nvPr/>
          </p:nvSpPr>
          <p:spPr>
            <a:xfrm>
              <a:off x="1917679" y="9591051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40">
                  <a:moveTo>
                    <a:pt x="458027" y="0"/>
                  </a:moveTo>
                  <a:lnTo>
                    <a:pt x="649" y="649"/>
                  </a:lnTo>
                  <a:lnTo>
                    <a:pt x="0" y="458027"/>
                  </a:lnTo>
                  <a:lnTo>
                    <a:pt x="128257" y="586254"/>
                  </a:lnTo>
                  <a:lnTo>
                    <a:pt x="586254" y="128257"/>
                  </a:lnTo>
                  <a:lnTo>
                    <a:pt x="458027" y="0"/>
                  </a:lnTo>
                  <a:close/>
                </a:path>
              </a:pathLst>
            </a:custGeom>
            <a:solidFill>
              <a:srgbClr val="1299A7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19" name="object 10">
              <a:extLst>
                <a:ext uri="{FF2B5EF4-FFF2-40B4-BE49-F238E27FC236}">
                  <a16:creationId xmlns:a16="http://schemas.microsoft.com/office/drawing/2014/main" id="{9891697A-BFD6-0741-B824-199AD2C0FD21}"/>
                </a:ext>
              </a:extLst>
            </p:cNvPr>
            <p:cNvSpPr/>
            <p:nvPr/>
          </p:nvSpPr>
          <p:spPr>
            <a:xfrm>
              <a:off x="1290191" y="8963073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40">
                  <a:moveTo>
                    <a:pt x="457996" y="0"/>
                  </a:moveTo>
                  <a:lnTo>
                    <a:pt x="0" y="457996"/>
                  </a:lnTo>
                  <a:lnTo>
                    <a:pt x="128226" y="586254"/>
                  </a:lnTo>
                  <a:lnTo>
                    <a:pt x="585605" y="585605"/>
                  </a:lnTo>
                  <a:lnTo>
                    <a:pt x="586254" y="128226"/>
                  </a:lnTo>
                  <a:lnTo>
                    <a:pt x="457996" y="0"/>
                  </a:lnTo>
                  <a:close/>
                </a:path>
              </a:pathLst>
            </a:custGeom>
            <a:solidFill>
              <a:srgbClr val="94D7E2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0" name="object 11">
              <a:extLst>
                <a:ext uri="{FF2B5EF4-FFF2-40B4-BE49-F238E27FC236}">
                  <a16:creationId xmlns:a16="http://schemas.microsoft.com/office/drawing/2014/main" id="{6D82609C-B852-2E9C-D4C5-674A871FF680}"/>
                </a:ext>
              </a:extLst>
            </p:cNvPr>
            <p:cNvSpPr/>
            <p:nvPr/>
          </p:nvSpPr>
          <p:spPr>
            <a:xfrm>
              <a:off x="1290191" y="9590562"/>
              <a:ext cx="586740" cy="586740"/>
            </a:xfrm>
            <a:custGeom>
              <a:avLst/>
              <a:gdLst/>
              <a:ahLst/>
              <a:cxnLst/>
              <a:rect l="l" t="t" r="r" b="b"/>
              <a:pathLst>
                <a:path w="586739" h="586740">
                  <a:moveTo>
                    <a:pt x="128226" y="0"/>
                  </a:moveTo>
                  <a:lnTo>
                    <a:pt x="0" y="128257"/>
                  </a:lnTo>
                  <a:lnTo>
                    <a:pt x="457996" y="586254"/>
                  </a:lnTo>
                  <a:lnTo>
                    <a:pt x="586254" y="458027"/>
                  </a:lnTo>
                  <a:lnTo>
                    <a:pt x="585605" y="649"/>
                  </a:lnTo>
                  <a:lnTo>
                    <a:pt x="128226" y="0"/>
                  </a:lnTo>
                  <a:close/>
                </a:path>
              </a:pathLst>
            </a:custGeom>
            <a:solidFill>
              <a:srgbClr val="2E5FAC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84B4EEC-7A1D-AB13-581A-CD6BF329A1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48523" y="268523"/>
            <a:ext cx="5192207" cy="4887619"/>
          </a:xfrm>
          <a:custGeom>
            <a:avLst/>
            <a:gdLst>
              <a:gd name="connsiteX0" fmla="*/ 3392527 w 5192207"/>
              <a:gd name="connsiteY0" fmla="*/ 0 h 4887619"/>
              <a:gd name="connsiteX1" fmla="*/ 5192207 w 5192207"/>
              <a:gd name="connsiteY1" fmla="*/ 0 h 4887619"/>
              <a:gd name="connsiteX2" fmla="*/ 5192207 w 5192207"/>
              <a:gd name="connsiteY2" fmla="*/ 4887619 h 4887619"/>
              <a:gd name="connsiteX3" fmla="*/ 1490127 w 5192207"/>
              <a:gd name="connsiteY3" fmla="*/ 4887619 h 4887619"/>
              <a:gd name="connsiteX4" fmla="*/ 0 w 5192207"/>
              <a:gd name="connsiteY4" fmla="*/ 3397721 h 4887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2207" h="4887619">
                <a:moveTo>
                  <a:pt x="3392527" y="0"/>
                </a:moveTo>
                <a:lnTo>
                  <a:pt x="5192207" y="0"/>
                </a:lnTo>
                <a:lnTo>
                  <a:pt x="5192207" y="4887619"/>
                </a:lnTo>
                <a:lnTo>
                  <a:pt x="1490127" y="4887619"/>
                </a:lnTo>
                <a:lnTo>
                  <a:pt x="0" y="339772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72000">
            <a:noAutofit/>
          </a:bodyPr>
          <a:lstStyle>
            <a:lvl1pPr algn="r">
              <a:defRPr/>
            </a:lvl1pPr>
          </a:lstStyle>
          <a:p>
            <a:r>
              <a:rPr lang="en-US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140004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401800" y="0"/>
            <a:ext cx="6170611" cy="4714634"/>
          </a:xfrm>
          <a:custGeom>
            <a:avLst/>
            <a:gdLst/>
            <a:ahLst/>
            <a:cxnLst/>
            <a:rect l="l" t="t" r="r" b="b"/>
            <a:pathLst>
              <a:path w="13566775" h="10366375">
                <a:moveTo>
                  <a:pt x="13566644" y="0"/>
                </a:moveTo>
                <a:lnTo>
                  <a:pt x="7398151" y="0"/>
                </a:lnTo>
                <a:lnTo>
                  <a:pt x="0" y="7398141"/>
                </a:lnTo>
                <a:lnTo>
                  <a:pt x="2967365" y="10366176"/>
                </a:lnTo>
                <a:lnTo>
                  <a:pt x="13552058" y="10351255"/>
                </a:lnTo>
                <a:lnTo>
                  <a:pt x="13566644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 sz="372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8" name="Title 10">
            <a:extLst>
              <a:ext uri="{FF2B5EF4-FFF2-40B4-BE49-F238E27FC236}">
                <a16:creationId xmlns:a16="http://schemas.microsoft.com/office/drawing/2014/main" id="{B569CBEF-5FF3-50F9-5EFA-6DF48D442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3211" y="1938457"/>
            <a:ext cx="3424789" cy="1268835"/>
          </a:xfrm>
        </p:spPr>
        <p:txBody>
          <a:bodyPr/>
          <a:lstStyle>
            <a:lvl1pPr algn="l">
              <a:lnSpc>
                <a:spcPct val="85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slide</a:t>
            </a:r>
            <a:br>
              <a:rPr lang="en-GB" dirty="0"/>
            </a:br>
            <a:r>
              <a:rPr lang="en-GB" dirty="0"/>
              <a:t>headline</a:t>
            </a:r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AE36990-5643-DE5E-9D38-5B5AC257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43211" y="3232277"/>
            <a:ext cx="3424789" cy="795080"/>
          </a:xfrm>
        </p:spPr>
        <p:txBody>
          <a:bodyPr/>
          <a:lstStyle>
            <a:lvl1pPr algn="l">
              <a:defRPr lang="en-GB" sz="1700" b="1" kern="1200" spc="2" dirty="0" smtClean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2pPr>
            <a:lvl3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3pPr>
            <a:lvl4pPr>
              <a:defRPr lang="en-GB" sz="1956" b="1" kern="1200" spc="2" dirty="0" smtClean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4pPr>
            <a:lvl5pPr>
              <a:defRPr lang="en-US" sz="1956" b="1" kern="1200" spc="2" dirty="0">
                <a:solidFill>
                  <a:srgbClr val="FFFFFF"/>
                </a:solidFill>
                <a:latin typeface="Arial"/>
                <a:ea typeface="+mn-ea"/>
                <a:cs typeface="Arial"/>
              </a:defRPr>
            </a:lvl5pPr>
          </a:lstStyle>
          <a:p>
            <a:pPr lvl="0"/>
            <a:r>
              <a:rPr lang="en-GB" dirty="0"/>
              <a:t>Subhead copy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10">
            <a:extLst>
              <a:ext uri="{FF2B5EF4-FFF2-40B4-BE49-F238E27FC236}">
                <a16:creationId xmlns:a16="http://schemas.microsoft.com/office/drawing/2014/main" id="{EFDBEDA1-416D-A480-3424-B956F2D67F4B}"/>
              </a:ext>
            </a:extLst>
          </p:cNvPr>
          <p:cNvSpPr/>
          <p:nvPr userDrawn="1"/>
        </p:nvSpPr>
        <p:spPr>
          <a:xfrm>
            <a:off x="7477125" y="4159251"/>
            <a:ext cx="1666874" cy="984250"/>
          </a:xfrm>
          <a:custGeom>
            <a:avLst/>
            <a:gdLst>
              <a:gd name="connsiteX0" fmla="*/ 2332127 w 3327400"/>
              <a:gd name="connsiteY0" fmla="*/ 3981 h 1947365"/>
              <a:gd name="connsiteX1" fmla="*/ 2323096 w 3327400"/>
              <a:gd name="connsiteY1" fmla="*/ 3981 h 1947365"/>
              <a:gd name="connsiteX2" fmla="*/ 2314064 w 3327400"/>
              <a:gd name="connsiteY2" fmla="*/ 4076 h 1947365"/>
              <a:gd name="connsiteX3" fmla="*/ 5324 w 3327400"/>
              <a:gd name="connsiteY3" fmla="*/ 13270 h 1947365"/>
              <a:gd name="connsiteX4" fmla="*/ 0 w 3327400"/>
              <a:gd name="connsiteY4" fmla="*/ 1307375 h 1947365"/>
              <a:gd name="connsiteX5" fmla="*/ 643804 w 3327400"/>
              <a:gd name="connsiteY5" fmla="*/ 1947365 h 1947365"/>
              <a:gd name="connsiteX6" fmla="*/ 3327400 w 3327400"/>
              <a:gd name="connsiteY6" fmla="*/ 1947365 h 1947365"/>
              <a:gd name="connsiteX7" fmla="*/ 3327400 w 3327400"/>
              <a:gd name="connsiteY7" fmla="*/ 0 h 1947365"/>
              <a:gd name="connsiteX8" fmla="*/ 2332127 w 3327400"/>
              <a:gd name="connsiteY8" fmla="*/ 3981 h 19473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7400" h="1947365">
                <a:moveTo>
                  <a:pt x="2332127" y="3981"/>
                </a:moveTo>
                <a:lnTo>
                  <a:pt x="2323096" y="3981"/>
                </a:lnTo>
                <a:lnTo>
                  <a:pt x="2314064" y="4076"/>
                </a:lnTo>
                <a:lnTo>
                  <a:pt x="5324" y="13270"/>
                </a:lnTo>
                <a:lnTo>
                  <a:pt x="0" y="1307375"/>
                </a:lnTo>
                <a:lnTo>
                  <a:pt x="643804" y="1947365"/>
                </a:lnTo>
                <a:lnTo>
                  <a:pt x="3327400" y="1947365"/>
                </a:lnTo>
                <a:lnTo>
                  <a:pt x="3327400" y="0"/>
                </a:lnTo>
                <a:lnTo>
                  <a:pt x="2332127" y="3981"/>
                </a:lnTo>
                <a:close/>
              </a:path>
            </a:pathLst>
          </a:custGeom>
          <a:solidFill>
            <a:schemeClr val="bg2"/>
          </a:solidFill>
          <a:ln w="94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72EE91-6914-2D8F-C130-941DABDC6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714" y="549576"/>
            <a:ext cx="2362896" cy="974424"/>
          </a:xfrm>
        </p:spPr>
        <p:txBody>
          <a:bodyPr/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goes here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A31C2-4EC8-8A60-5752-D64F467D7A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713289" y="4463821"/>
            <a:ext cx="1275135" cy="171457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4A8EDF-2D5C-1087-42BB-4686829C66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40582" y="554218"/>
            <a:ext cx="4068886" cy="325421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04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10">
            <a:extLst>
              <a:ext uri="{FF2B5EF4-FFF2-40B4-BE49-F238E27FC236}">
                <a16:creationId xmlns:a16="http://schemas.microsoft.com/office/drawing/2014/main" id="{EEEDFEB2-538E-A49D-9474-37A9E8E78369}"/>
              </a:ext>
            </a:extLst>
          </p:cNvPr>
          <p:cNvSpPr/>
          <p:nvPr userDrawn="1"/>
        </p:nvSpPr>
        <p:spPr>
          <a:xfrm>
            <a:off x="4342307" y="253461"/>
            <a:ext cx="4573377" cy="5872037"/>
          </a:xfrm>
          <a:custGeom>
            <a:avLst/>
            <a:gdLst>
              <a:gd name="connsiteX0" fmla="*/ 0 w 3936326"/>
              <a:gd name="connsiteY0" fmla="*/ 2527045 h 5054089"/>
              <a:gd name="connsiteX1" fmla="*/ 2520760 w 3936326"/>
              <a:gd name="connsiteY1" fmla="*/ 0 h 5054089"/>
              <a:gd name="connsiteX2" fmla="*/ 3936327 w 3936326"/>
              <a:gd name="connsiteY2" fmla="*/ 160 h 5054089"/>
              <a:gd name="connsiteX3" fmla="*/ 3936327 w 3936326"/>
              <a:gd name="connsiteY3" fmla="*/ 2517217 h 5054089"/>
              <a:gd name="connsiteX4" fmla="*/ 3936327 w 3936326"/>
              <a:gd name="connsiteY4" fmla="*/ 2527045 h 5054089"/>
              <a:gd name="connsiteX5" fmla="*/ 3936327 w 3936326"/>
              <a:gd name="connsiteY5" fmla="*/ 2536873 h 5054089"/>
              <a:gd name="connsiteX6" fmla="*/ 3936327 w 3936326"/>
              <a:gd name="connsiteY6" fmla="*/ 5053930 h 5054089"/>
              <a:gd name="connsiteX7" fmla="*/ 2520760 w 3936326"/>
              <a:gd name="connsiteY7" fmla="*/ 5054090 h 5054089"/>
              <a:gd name="connsiteX8" fmla="*/ 0 w 3936326"/>
              <a:gd name="connsiteY8" fmla="*/ 2527045 h 505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6326" h="5054089">
                <a:moveTo>
                  <a:pt x="0" y="2527045"/>
                </a:moveTo>
                <a:lnTo>
                  <a:pt x="2520760" y="0"/>
                </a:lnTo>
                <a:lnTo>
                  <a:pt x="3936327" y="160"/>
                </a:lnTo>
                <a:lnTo>
                  <a:pt x="3936327" y="2517217"/>
                </a:lnTo>
                <a:lnTo>
                  <a:pt x="3936327" y="2527045"/>
                </a:lnTo>
                <a:lnTo>
                  <a:pt x="3936327" y="2536873"/>
                </a:lnTo>
                <a:lnTo>
                  <a:pt x="3936327" y="5053930"/>
                </a:lnTo>
                <a:lnTo>
                  <a:pt x="2520760" y="5054090"/>
                </a:lnTo>
                <a:lnTo>
                  <a:pt x="0" y="2527045"/>
                </a:lnTo>
                <a:close/>
              </a:path>
            </a:pathLst>
          </a:custGeom>
          <a:noFill/>
          <a:ln w="76200" cap="flat">
            <a:solidFill>
              <a:schemeClr val="accent1">
                <a:alpha val="4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A944A-A28A-80E3-7C06-7F09F8427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4919" y="211361"/>
            <a:ext cx="7249316" cy="974424"/>
          </a:xfrm>
        </p:spPr>
        <p:txBody>
          <a:bodyPr/>
          <a:lstStyle>
            <a:lvl1pPr>
              <a:lnSpc>
                <a:spcPct val="85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456B293-F3E8-814F-5005-3A1FCA6027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918" y="1521912"/>
            <a:ext cx="7471343" cy="2286518"/>
          </a:xfrm>
        </p:spPr>
        <p:txBody>
          <a:bodyPr/>
          <a:lstStyle>
            <a:lvl1pPr>
              <a:defRPr sz="2100"/>
            </a:lvl1pPr>
            <a:lvl2pPr marL="531900" indent="-257175">
              <a:spcAft>
                <a:spcPts val="450"/>
              </a:spcAft>
              <a:buFont typeface="Arial" panose="020B0604020202020204" pitchFamily="34" charset="0"/>
              <a:buChar char="•"/>
              <a:defRPr sz="1800"/>
            </a:lvl2pPr>
            <a:lvl3pPr marL="629100">
              <a:spcAft>
                <a:spcPts val="450"/>
              </a:spcAft>
              <a:defRPr sz="1800"/>
            </a:lvl3pPr>
            <a:lvl4pPr marL="891000" indent="-342900">
              <a:buFont typeface="Courier New" panose="02070309020205020404" pitchFamily="49" charset="0"/>
              <a:buChar char="o"/>
              <a:defRPr sz="1800" b="0"/>
            </a:lvl4pPr>
            <a:lvl5pPr>
              <a:defRPr sz="1800"/>
            </a:lvl5pPr>
          </a:lstStyle>
          <a:p>
            <a:pPr lvl="0"/>
            <a:r>
              <a:rPr lang="en-GB" dirty="0"/>
              <a:t>1. 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 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	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793450-8880-23FB-0AE7-31CDB64BA8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403132"/>
            <a:ext cx="9143358" cy="740369"/>
          </a:xfrm>
          <a:prstGeom prst="rect">
            <a:avLst/>
          </a:prstGeom>
        </p:spPr>
      </p:pic>
      <p:grpSp>
        <p:nvGrpSpPr>
          <p:cNvPr id="25" name="object 200">
            <a:extLst>
              <a:ext uri="{FF2B5EF4-FFF2-40B4-BE49-F238E27FC236}">
                <a16:creationId xmlns:a16="http://schemas.microsoft.com/office/drawing/2014/main" id="{C18EEBCC-7C78-FEEC-DC31-223BFD20907D}"/>
              </a:ext>
            </a:extLst>
          </p:cNvPr>
          <p:cNvGrpSpPr/>
          <p:nvPr userDrawn="1"/>
        </p:nvGrpSpPr>
        <p:grpSpPr>
          <a:xfrm>
            <a:off x="581308" y="4613839"/>
            <a:ext cx="304518" cy="304797"/>
            <a:chOff x="1256507" y="10123407"/>
            <a:chExt cx="690880" cy="691515"/>
          </a:xfrm>
        </p:grpSpPr>
        <p:sp>
          <p:nvSpPr>
            <p:cNvPr id="26" name="object 201">
              <a:extLst>
                <a:ext uri="{FF2B5EF4-FFF2-40B4-BE49-F238E27FC236}">
                  <a16:creationId xmlns:a16="http://schemas.microsoft.com/office/drawing/2014/main" id="{9F2CD3EB-20E9-B867-3DA0-7D94119026A2}"/>
                </a:ext>
              </a:extLst>
            </p:cNvPr>
            <p:cNvSpPr/>
            <p:nvPr/>
          </p:nvSpPr>
          <p:spPr>
            <a:xfrm>
              <a:off x="1613591" y="10123686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09">
                  <a:moveTo>
                    <a:pt x="72982" y="0"/>
                  </a:moveTo>
                  <a:lnTo>
                    <a:pt x="0" y="72971"/>
                  </a:lnTo>
                  <a:lnTo>
                    <a:pt x="366" y="333246"/>
                  </a:lnTo>
                  <a:lnTo>
                    <a:pt x="260641" y="333612"/>
                  </a:lnTo>
                  <a:lnTo>
                    <a:pt x="333612" y="260630"/>
                  </a:lnTo>
                  <a:lnTo>
                    <a:pt x="72982" y="0"/>
                  </a:lnTo>
                  <a:close/>
                </a:path>
              </a:pathLst>
            </a:custGeom>
            <a:solidFill>
              <a:srgbClr val="82B4C4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7" name="object 202">
              <a:extLst>
                <a:ext uri="{FF2B5EF4-FFF2-40B4-BE49-F238E27FC236}">
                  <a16:creationId xmlns:a16="http://schemas.microsoft.com/office/drawing/2014/main" id="{B414027B-A5CD-1C19-E535-0FB6CA7AAF59}"/>
                </a:ext>
              </a:extLst>
            </p:cNvPr>
            <p:cNvSpPr/>
            <p:nvPr/>
          </p:nvSpPr>
          <p:spPr>
            <a:xfrm>
              <a:off x="1613591" y="10480770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09">
                  <a:moveTo>
                    <a:pt x="260641" y="0"/>
                  </a:moveTo>
                  <a:lnTo>
                    <a:pt x="366" y="366"/>
                  </a:lnTo>
                  <a:lnTo>
                    <a:pt x="0" y="260641"/>
                  </a:lnTo>
                  <a:lnTo>
                    <a:pt x="72982" y="333612"/>
                  </a:lnTo>
                  <a:lnTo>
                    <a:pt x="333612" y="72982"/>
                  </a:lnTo>
                  <a:lnTo>
                    <a:pt x="260641" y="0"/>
                  </a:lnTo>
                  <a:close/>
                </a:path>
              </a:pathLst>
            </a:custGeom>
            <a:solidFill>
              <a:srgbClr val="1299A7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8" name="object 203">
              <a:extLst>
                <a:ext uri="{FF2B5EF4-FFF2-40B4-BE49-F238E27FC236}">
                  <a16:creationId xmlns:a16="http://schemas.microsoft.com/office/drawing/2014/main" id="{782451B6-12A8-FFE8-CA3F-4B306D8E9726}"/>
                </a:ext>
              </a:extLst>
            </p:cNvPr>
            <p:cNvSpPr/>
            <p:nvPr/>
          </p:nvSpPr>
          <p:spPr>
            <a:xfrm>
              <a:off x="1256507" y="10123407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09">
                  <a:moveTo>
                    <a:pt x="260630" y="0"/>
                  </a:moveTo>
                  <a:lnTo>
                    <a:pt x="0" y="260630"/>
                  </a:lnTo>
                  <a:lnTo>
                    <a:pt x="72971" y="333612"/>
                  </a:lnTo>
                  <a:lnTo>
                    <a:pt x="333246" y="333246"/>
                  </a:lnTo>
                  <a:lnTo>
                    <a:pt x="333612" y="72971"/>
                  </a:lnTo>
                  <a:lnTo>
                    <a:pt x="260630" y="0"/>
                  </a:lnTo>
                  <a:close/>
                </a:path>
              </a:pathLst>
            </a:custGeom>
            <a:solidFill>
              <a:srgbClr val="94D7E2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9" name="object 204">
              <a:extLst>
                <a:ext uri="{FF2B5EF4-FFF2-40B4-BE49-F238E27FC236}">
                  <a16:creationId xmlns:a16="http://schemas.microsoft.com/office/drawing/2014/main" id="{554EF189-44B4-32AB-EAE5-A49FFDEABA3E}"/>
                </a:ext>
              </a:extLst>
            </p:cNvPr>
            <p:cNvSpPr/>
            <p:nvPr/>
          </p:nvSpPr>
          <p:spPr>
            <a:xfrm>
              <a:off x="1256507" y="10480493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09">
                  <a:moveTo>
                    <a:pt x="72971" y="0"/>
                  </a:moveTo>
                  <a:lnTo>
                    <a:pt x="0" y="72982"/>
                  </a:lnTo>
                  <a:lnTo>
                    <a:pt x="260630" y="333612"/>
                  </a:lnTo>
                  <a:lnTo>
                    <a:pt x="333612" y="260641"/>
                  </a:lnTo>
                  <a:lnTo>
                    <a:pt x="333246" y="366"/>
                  </a:lnTo>
                  <a:lnTo>
                    <a:pt x="72971" y="0"/>
                  </a:lnTo>
                  <a:close/>
                </a:path>
              </a:pathLst>
            </a:custGeom>
            <a:solidFill>
              <a:srgbClr val="2E5FAC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</p:grpSp>
      <p:sp>
        <p:nvSpPr>
          <p:cNvPr id="30" name="object 199">
            <a:extLst>
              <a:ext uri="{FF2B5EF4-FFF2-40B4-BE49-F238E27FC236}">
                <a16:creationId xmlns:a16="http://schemas.microsoft.com/office/drawing/2014/main" id="{5C4AB55B-2841-534D-28BE-281D38F3940A}"/>
              </a:ext>
            </a:extLst>
          </p:cNvPr>
          <p:cNvSpPr txBox="1"/>
          <p:nvPr userDrawn="1"/>
        </p:nvSpPr>
        <p:spPr>
          <a:xfrm>
            <a:off x="915368" y="4595492"/>
            <a:ext cx="1373525" cy="336647"/>
          </a:xfrm>
          <a:prstGeom prst="rect">
            <a:avLst/>
          </a:prstGeom>
        </p:spPr>
        <p:txBody>
          <a:bodyPr vert="horz" wrap="square" lIns="0" tIns="28591" rIns="0" bIns="0" rtlCol="0">
            <a:spAutoFit/>
          </a:bodyPr>
          <a:lstStyle/>
          <a:p>
            <a:pPr marL="5776" marR="2310">
              <a:lnSpc>
                <a:spcPts val="910"/>
              </a:lnSpc>
              <a:spcBef>
                <a:spcPts val="225"/>
              </a:spcBef>
            </a:pPr>
            <a:r>
              <a:rPr sz="910" spc="-2">
                <a:solidFill>
                  <a:srgbClr val="FFFFFF"/>
                </a:solidFill>
                <a:latin typeface="Arial"/>
                <a:cs typeface="Arial"/>
              </a:rPr>
              <a:t>ESRC </a:t>
            </a:r>
            <a:r>
              <a:rPr sz="910" spc="-5">
                <a:solidFill>
                  <a:srgbClr val="FFFFFF"/>
                </a:solidFill>
                <a:latin typeface="Arial Black"/>
                <a:cs typeface="Arial Black"/>
              </a:rPr>
              <a:t>Education  Research</a:t>
            </a:r>
            <a:r>
              <a:rPr sz="910" spc="-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10" spc="2">
                <a:solidFill>
                  <a:srgbClr val="FFFFFF"/>
                </a:solidFill>
                <a:latin typeface="Arial Black"/>
                <a:cs typeface="Arial Black"/>
              </a:rPr>
              <a:t>Programme</a:t>
            </a:r>
            <a:endParaRPr sz="910">
              <a:latin typeface="Arial Black"/>
              <a:cs typeface="Arial Black"/>
            </a:endParaRPr>
          </a:p>
          <a:p>
            <a:pPr marL="5776">
              <a:lnSpc>
                <a:spcPts val="634"/>
              </a:lnSpc>
            </a:pPr>
            <a:r>
              <a:rPr sz="569" spc="-2">
                <a:solidFill>
                  <a:srgbClr val="FFFFFF"/>
                </a:solidFill>
                <a:latin typeface="Arial"/>
                <a:cs typeface="Arial"/>
              </a:rPr>
              <a:t>Empowering</a:t>
            </a:r>
            <a:r>
              <a:rPr sz="569" spc="-5">
                <a:solidFill>
                  <a:srgbClr val="FFFFFF"/>
                </a:solidFill>
                <a:latin typeface="Arial"/>
                <a:cs typeface="Arial"/>
              </a:rPr>
              <a:t> educators</a:t>
            </a:r>
            <a:endParaRPr sz="56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396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7EABF63-882B-6417-4246-362C4F18A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713" y="550800"/>
            <a:ext cx="5221963" cy="571512"/>
          </a:xfrm>
        </p:spPr>
        <p:txBody>
          <a:bodyPr/>
          <a:lstStyle/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961ED95-7809-BB95-CD3D-E9C591A314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713" y="1141200"/>
            <a:ext cx="3528276" cy="290353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Graphic 10">
            <a:extLst>
              <a:ext uri="{FF2B5EF4-FFF2-40B4-BE49-F238E27FC236}">
                <a16:creationId xmlns:a16="http://schemas.microsoft.com/office/drawing/2014/main" id="{EEEDFEB2-538E-A49D-9474-37A9E8E78369}"/>
              </a:ext>
            </a:extLst>
          </p:cNvPr>
          <p:cNvSpPr/>
          <p:nvPr userDrawn="1"/>
        </p:nvSpPr>
        <p:spPr>
          <a:xfrm>
            <a:off x="4342306" y="253460"/>
            <a:ext cx="4573377" cy="5872037"/>
          </a:xfrm>
          <a:custGeom>
            <a:avLst/>
            <a:gdLst>
              <a:gd name="connsiteX0" fmla="*/ 0 w 3936326"/>
              <a:gd name="connsiteY0" fmla="*/ 2527045 h 5054089"/>
              <a:gd name="connsiteX1" fmla="*/ 2520760 w 3936326"/>
              <a:gd name="connsiteY1" fmla="*/ 0 h 5054089"/>
              <a:gd name="connsiteX2" fmla="*/ 3936327 w 3936326"/>
              <a:gd name="connsiteY2" fmla="*/ 160 h 5054089"/>
              <a:gd name="connsiteX3" fmla="*/ 3936327 w 3936326"/>
              <a:gd name="connsiteY3" fmla="*/ 2517217 h 5054089"/>
              <a:gd name="connsiteX4" fmla="*/ 3936327 w 3936326"/>
              <a:gd name="connsiteY4" fmla="*/ 2527045 h 5054089"/>
              <a:gd name="connsiteX5" fmla="*/ 3936327 w 3936326"/>
              <a:gd name="connsiteY5" fmla="*/ 2536873 h 5054089"/>
              <a:gd name="connsiteX6" fmla="*/ 3936327 w 3936326"/>
              <a:gd name="connsiteY6" fmla="*/ 5053930 h 5054089"/>
              <a:gd name="connsiteX7" fmla="*/ 2520760 w 3936326"/>
              <a:gd name="connsiteY7" fmla="*/ 5054090 h 5054089"/>
              <a:gd name="connsiteX8" fmla="*/ 0 w 3936326"/>
              <a:gd name="connsiteY8" fmla="*/ 2527045 h 505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6326" h="5054089">
                <a:moveTo>
                  <a:pt x="0" y="2527045"/>
                </a:moveTo>
                <a:lnTo>
                  <a:pt x="2520760" y="0"/>
                </a:lnTo>
                <a:lnTo>
                  <a:pt x="3936327" y="160"/>
                </a:lnTo>
                <a:lnTo>
                  <a:pt x="3936327" y="2517217"/>
                </a:lnTo>
                <a:lnTo>
                  <a:pt x="3936327" y="2527045"/>
                </a:lnTo>
                <a:lnTo>
                  <a:pt x="3936327" y="2536873"/>
                </a:lnTo>
                <a:lnTo>
                  <a:pt x="3936327" y="5053930"/>
                </a:lnTo>
                <a:lnTo>
                  <a:pt x="2520760" y="5054090"/>
                </a:lnTo>
                <a:lnTo>
                  <a:pt x="0" y="2527045"/>
                </a:lnTo>
                <a:close/>
              </a:path>
            </a:pathLst>
          </a:custGeom>
          <a:noFill/>
          <a:ln w="82550" cap="flat">
            <a:solidFill>
              <a:schemeClr val="accent1">
                <a:alpha val="4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5C16F41-AB55-A798-2572-2EB3B3C4B8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8200" y="1188719"/>
            <a:ext cx="3930650" cy="2605723"/>
          </a:xfrm>
          <a:solidFill>
            <a:schemeClr val="bg1">
              <a:lumMod val="95000"/>
            </a:schemeClr>
          </a:solidFill>
        </p:spPr>
        <p:txBody>
          <a:bodyPr tIns="72000"/>
          <a:lstStyle>
            <a:lvl1pPr algn="r">
              <a:defRPr/>
            </a:lvl1pPr>
          </a:lstStyle>
          <a:p>
            <a:r>
              <a:rPr lang="en-US" dirty="0"/>
              <a:t>INSERT IMAGE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10">
            <a:extLst>
              <a:ext uri="{FF2B5EF4-FFF2-40B4-BE49-F238E27FC236}">
                <a16:creationId xmlns:a16="http://schemas.microsoft.com/office/drawing/2014/main" id="{EEEDFEB2-538E-A49D-9474-37A9E8E78369}"/>
              </a:ext>
            </a:extLst>
          </p:cNvPr>
          <p:cNvSpPr/>
          <p:nvPr userDrawn="1"/>
        </p:nvSpPr>
        <p:spPr>
          <a:xfrm>
            <a:off x="4342306" y="253460"/>
            <a:ext cx="4573377" cy="5872037"/>
          </a:xfrm>
          <a:custGeom>
            <a:avLst/>
            <a:gdLst>
              <a:gd name="connsiteX0" fmla="*/ 0 w 3936326"/>
              <a:gd name="connsiteY0" fmla="*/ 2527045 h 5054089"/>
              <a:gd name="connsiteX1" fmla="*/ 2520760 w 3936326"/>
              <a:gd name="connsiteY1" fmla="*/ 0 h 5054089"/>
              <a:gd name="connsiteX2" fmla="*/ 3936327 w 3936326"/>
              <a:gd name="connsiteY2" fmla="*/ 160 h 5054089"/>
              <a:gd name="connsiteX3" fmla="*/ 3936327 w 3936326"/>
              <a:gd name="connsiteY3" fmla="*/ 2517217 h 5054089"/>
              <a:gd name="connsiteX4" fmla="*/ 3936327 w 3936326"/>
              <a:gd name="connsiteY4" fmla="*/ 2527045 h 5054089"/>
              <a:gd name="connsiteX5" fmla="*/ 3936327 w 3936326"/>
              <a:gd name="connsiteY5" fmla="*/ 2536873 h 5054089"/>
              <a:gd name="connsiteX6" fmla="*/ 3936327 w 3936326"/>
              <a:gd name="connsiteY6" fmla="*/ 5053930 h 5054089"/>
              <a:gd name="connsiteX7" fmla="*/ 2520760 w 3936326"/>
              <a:gd name="connsiteY7" fmla="*/ 5054090 h 5054089"/>
              <a:gd name="connsiteX8" fmla="*/ 0 w 3936326"/>
              <a:gd name="connsiteY8" fmla="*/ 2527045 h 505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6326" h="5054089">
                <a:moveTo>
                  <a:pt x="0" y="2527045"/>
                </a:moveTo>
                <a:lnTo>
                  <a:pt x="2520760" y="0"/>
                </a:lnTo>
                <a:lnTo>
                  <a:pt x="3936327" y="160"/>
                </a:lnTo>
                <a:lnTo>
                  <a:pt x="3936327" y="2517217"/>
                </a:lnTo>
                <a:lnTo>
                  <a:pt x="3936327" y="2527045"/>
                </a:lnTo>
                <a:lnTo>
                  <a:pt x="3936327" y="2536873"/>
                </a:lnTo>
                <a:lnTo>
                  <a:pt x="3936327" y="5053930"/>
                </a:lnTo>
                <a:lnTo>
                  <a:pt x="2520760" y="5054090"/>
                </a:lnTo>
                <a:lnTo>
                  <a:pt x="0" y="2527045"/>
                </a:lnTo>
                <a:close/>
              </a:path>
            </a:pathLst>
          </a:custGeom>
          <a:noFill/>
          <a:ln w="76200" cap="flat">
            <a:solidFill>
              <a:schemeClr val="accent1">
                <a:alpha val="4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A944A-A28A-80E3-7C06-7F09F8427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714" y="549576"/>
            <a:ext cx="2362896" cy="974424"/>
          </a:xfrm>
        </p:spPr>
        <p:txBody>
          <a:bodyPr/>
          <a:lstStyle>
            <a:lvl1pPr>
              <a:lnSpc>
                <a:spcPct val="85000"/>
              </a:lnSpc>
              <a:defRPr/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goes here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456B293-F3E8-814F-5005-3A1FCA6027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40582" y="554218"/>
            <a:ext cx="4068886" cy="3254211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A793450-8880-23FB-0AE7-31CDB64BA8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403131"/>
            <a:ext cx="9143358" cy="740369"/>
          </a:xfrm>
          <a:prstGeom prst="rect">
            <a:avLst/>
          </a:prstGeom>
        </p:spPr>
      </p:pic>
      <p:grpSp>
        <p:nvGrpSpPr>
          <p:cNvPr id="25" name="object 200">
            <a:extLst>
              <a:ext uri="{FF2B5EF4-FFF2-40B4-BE49-F238E27FC236}">
                <a16:creationId xmlns:a16="http://schemas.microsoft.com/office/drawing/2014/main" id="{C18EEBCC-7C78-FEEC-DC31-223BFD20907D}"/>
              </a:ext>
            </a:extLst>
          </p:cNvPr>
          <p:cNvGrpSpPr/>
          <p:nvPr userDrawn="1"/>
        </p:nvGrpSpPr>
        <p:grpSpPr>
          <a:xfrm>
            <a:off x="581308" y="4613838"/>
            <a:ext cx="304518" cy="304797"/>
            <a:chOff x="1256507" y="10123407"/>
            <a:chExt cx="690880" cy="691515"/>
          </a:xfrm>
        </p:grpSpPr>
        <p:sp>
          <p:nvSpPr>
            <p:cNvPr id="26" name="object 201">
              <a:extLst>
                <a:ext uri="{FF2B5EF4-FFF2-40B4-BE49-F238E27FC236}">
                  <a16:creationId xmlns:a16="http://schemas.microsoft.com/office/drawing/2014/main" id="{9F2CD3EB-20E9-B867-3DA0-7D94119026A2}"/>
                </a:ext>
              </a:extLst>
            </p:cNvPr>
            <p:cNvSpPr/>
            <p:nvPr/>
          </p:nvSpPr>
          <p:spPr>
            <a:xfrm>
              <a:off x="1613591" y="10123686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09">
                  <a:moveTo>
                    <a:pt x="72982" y="0"/>
                  </a:moveTo>
                  <a:lnTo>
                    <a:pt x="0" y="72971"/>
                  </a:lnTo>
                  <a:lnTo>
                    <a:pt x="366" y="333246"/>
                  </a:lnTo>
                  <a:lnTo>
                    <a:pt x="260641" y="333612"/>
                  </a:lnTo>
                  <a:lnTo>
                    <a:pt x="333612" y="260630"/>
                  </a:lnTo>
                  <a:lnTo>
                    <a:pt x="72982" y="0"/>
                  </a:lnTo>
                  <a:close/>
                </a:path>
              </a:pathLst>
            </a:custGeom>
            <a:solidFill>
              <a:srgbClr val="82B4C4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7" name="object 202">
              <a:extLst>
                <a:ext uri="{FF2B5EF4-FFF2-40B4-BE49-F238E27FC236}">
                  <a16:creationId xmlns:a16="http://schemas.microsoft.com/office/drawing/2014/main" id="{B414027B-A5CD-1C19-E535-0FB6CA7AAF59}"/>
                </a:ext>
              </a:extLst>
            </p:cNvPr>
            <p:cNvSpPr/>
            <p:nvPr/>
          </p:nvSpPr>
          <p:spPr>
            <a:xfrm>
              <a:off x="1613591" y="10480770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09">
                  <a:moveTo>
                    <a:pt x="260641" y="0"/>
                  </a:moveTo>
                  <a:lnTo>
                    <a:pt x="366" y="366"/>
                  </a:lnTo>
                  <a:lnTo>
                    <a:pt x="0" y="260641"/>
                  </a:lnTo>
                  <a:lnTo>
                    <a:pt x="72982" y="333612"/>
                  </a:lnTo>
                  <a:lnTo>
                    <a:pt x="333612" y="72982"/>
                  </a:lnTo>
                  <a:lnTo>
                    <a:pt x="260641" y="0"/>
                  </a:lnTo>
                  <a:close/>
                </a:path>
              </a:pathLst>
            </a:custGeom>
            <a:solidFill>
              <a:srgbClr val="1299A7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8" name="object 203">
              <a:extLst>
                <a:ext uri="{FF2B5EF4-FFF2-40B4-BE49-F238E27FC236}">
                  <a16:creationId xmlns:a16="http://schemas.microsoft.com/office/drawing/2014/main" id="{782451B6-12A8-FFE8-CA3F-4B306D8E9726}"/>
                </a:ext>
              </a:extLst>
            </p:cNvPr>
            <p:cNvSpPr/>
            <p:nvPr/>
          </p:nvSpPr>
          <p:spPr>
            <a:xfrm>
              <a:off x="1256507" y="10123407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09">
                  <a:moveTo>
                    <a:pt x="260630" y="0"/>
                  </a:moveTo>
                  <a:lnTo>
                    <a:pt x="0" y="260630"/>
                  </a:lnTo>
                  <a:lnTo>
                    <a:pt x="72971" y="333612"/>
                  </a:lnTo>
                  <a:lnTo>
                    <a:pt x="333246" y="333246"/>
                  </a:lnTo>
                  <a:lnTo>
                    <a:pt x="333612" y="72971"/>
                  </a:lnTo>
                  <a:lnTo>
                    <a:pt x="260630" y="0"/>
                  </a:lnTo>
                  <a:close/>
                </a:path>
              </a:pathLst>
            </a:custGeom>
            <a:solidFill>
              <a:srgbClr val="94D7E2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9" name="object 204">
              <a:extLst>
                <a:ext uri="{FF2B5EF4-FFF2-40B4-BE49-F238E27FC236}">
                  <a16:creationId xmlns:a16="http://schemas.microsoft.com/office/drawing/2014/main" id="{554EF189-44B4-32AB-EAE5-A49FFDEABA3E}"/>
                </a:ext>
              </a:extLst>
            </p:cNvPr>
            <p:cNvSpPr/>
            <p:nvPr/>
          </p:nvSpPr>
          <p:spPr>
            <a:xfrm>
              <a:off x="1256507" y="10480493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09">
                  <a:moveTo>
                    <a:pt x="72971" y="0"/>
                  </a:moveTo>
                  <a:lnTo>
                    <a:pt x="0" y="72982"/>
                  </a:lnTo>
                  <a:lnTo>
                    <a:pt x="260630" y="333612"/>
                  </a:lnTo>
                  <a:lnTo>
                    <a:pt x="333612" y="260641"/>
                  </a:lnTo>
                  <a:lnTo>
                    <a:pt x="333246" y="366"/>
                  </a:lnTo>
                  <a:lnTo>
                    <a:pt x="72971" y="0"/>
                  </a:lnTo>
                  <a:close/>
                </a:path>
              </a:pathLst>
            </a:custGeom>
            <a:solidFill>
              <a:srgbClr val="2E5FAC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</p:grpSp>
      <p:sp>
        <p:nvSpPr>
          <p:cNvPr id="30" name="object 199">
            <a:extLst>
              <a:ext uri="{FF2B5EF4-FFF2-40B4-BE49-F238E27FC236}">
                <a16:creationId xmlns:a16="http://schemas.microsoft.com/office/drawing/2014/main" id="{5C4AB55B-2841-534D-28BE-281D38F3940A}"/>
              </a:ext>
            </a:extLst>
          </p:cNvPr>
          <p:cNvSpPr txBox="1"/>
          <p:nvPr userDrawn="1"/>
        </p:nvSpPr>
        <p:spPr>
          <a:xfrm>
            <a:off x="915367" y="4595492"/>
            <a:ext cx="1373525" cy="336647"/>
          </a:xfrm>
          <a:prstGeom prst="rect">
            <a:avLst/>
          </a:prstGeom>
        </p:spPr>
        <p:txBody>
          <a:bodyPr vert="horz" wrap="square" lIns="0" tIns="28591" rIns="0" bIns="0" rtlCol="0">
            <a:spAutoFit/>
          </a:bodyPr>
          <a:lstStyle/>
          <a:p>
            <a:pPr marL="5776" marR="2310">
              <a:lnSpc>
                <a:spcPts val="910"/>
              </a:lnSpc>
              <a:spcBef>
                <a:spcPts val="225"/>
              </a:spcBef>
            </a:pPr>
            <a:r>
              <a:rPr sz="910" spc="-2" dirty="0">
                <a:solidFill>
                  <a:srgbClr val="FFFFFF"/>
                </a:solidFill>
                <a:latin typeface="Arial"/>
                <a:cs typeface="Arial"/>
              </a:rPr>
              <a:t>ESRC </a:t>
            </a:r>
            <a:r>
              <a:rPr sz="910" spc="-5" dirty="0">
                <a:solidFill>
                  <a:srgbClr val="FFFFFF"/>
                </a:solidFill>
                <a:latin typeface="Arial Black"/>
                <a:cs typeface="Arial Black"/>
              </a:rPr>
              <a:t>Education  Research</a:t>
            </a:r>
            <a:r>
              <a:rPr sz="91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10" spc="2" dirty="0">
                <a:solidFill>
                  <a:srgbClr val="FFFFFF"/>
                </a:solidFill>
                <a:latin typeface="Arial Black"/>
                <a:cs typeface="Arial Black"/>
              </a:rPr>
              <a:t>Programme</a:t>
            </a:r>
            <a:endParaRPr sz="910" dirty="0">
              <a:latin typeface="Arial Black"/>
              <a:cs typeface="Arial Black"/>
            </a:endParaRPr>
          </a:p>
          <a:p>
            <a:pPr marL="5776">
              <a:lnSpc>
                <a:spcPts val="634"/>
              </a:lnSpc>
            </a:pPr>
            <a:r>
              <a:rPr sz="569" spc="-2" dirty="0">
                <a:solidFill>
                  <a:srgbClr val="FFFFFF"/>
                </a:solidFill>
                <a:latin typeface="Arial"/>
                <a:cs typeface="Arial"/>
              </a:rPr>
              <a:t>Empowering</a:t>
            </a:r>
            <a:r>
              <a:rPr sz="569" spc="-5" dirty="0">
                <a:solidFill>
                  <a:srgbClr val="FFFFFF"/>
                </a:solidFill>
                <a:latin typeface="Arial"/>
                <a:cs typeface="Arial"/>
              </a:rPr>
              <a:t> educators</a:t>
            </a:r>
            <a:endParaRPr sz="569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912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7EABF63-882B-6417-4246-362C4F18A9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713" y="550800"/>
            <a:ext cx="5221963" cy="571512"/>
          </a:xfrm>
        </p:spPr>
        <p:txBody>
          <a:bodyPr/>
          <a:lstStyle/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961ED95-7809-BB95-CD3D-E9C591A314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713" y="1141200"/>
            <a:ext cx="3528276" cy="290353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Graphic 10">
            <a:extLst>
              <a:ext uri="{FF2B5EF4-FFF2-40B4-BE49-F238E27FC236}">
                <a16:creationId xmlns:a16="http://schemas.microsoft.com/office/drawing/2014/main" id="{EEEDFEB2-538E-A49D-9474-37A9E8E78369}"/>
              </a:ext>
            </a:extLst>
          </p:cNvPr>
          <p:cNvSpPr/>
          <p:nvPr userDrawn="1"/>
        </p:nvSpPr>
        <p:spPr>
          <a:xfrm>
            <a:off x="4342306" y="253460"/>
            <a:ext cx="4573377" cy="5872037"/>
          </a:xfrm>
          <a:custGeom>
            <a:avLst/>
            <a:gdLst>
              <a:gd name="connsiteX0" fmla="*/ 0 w 3936326"/>
              <a:gd name="connsiteY0" fmla="*/ 2527045 h 5054089"/>
              <a:gd name="connsiteX1" fmla="*/ 2520760 w 3936326"/>
              <a:gd name="connsiteY1" fmla="*/ 0 h 5054089"/>
              <a:gd name="connsiteX2" fmla="*/ 3936327 w 3936326"/>
              <a:gd name="connsiteY2" fmla="*/ 160 h 5054089"/>
              <a:gd name="connsiteX3" fmla="*/ 3936327 w 3936326"/>
              <a:gd name="connsiteY3" fmla="*/ 2517217 h 5054089"/>
              <a:gd name="connsiteX4" fmla="*/ 3936327 w 3936326"/>
              <a:gd name="connsiteY4" fmla="*/ 2527045 h 5054089"/>
              <a:gd name="connsiteX5" fmla="*/ 3936327 w 3936326"/>
              <a:gd name="connsiteY5" fmla="*/ 2536873 h 5054089"/>
              <a:gd name="connsiteX6" fmla="*/ 3936327 w 3936326"/>
              <a:gd name="connsiteY6" fmla="*/ 5053930 h 5054089"/>
              <a:gd name="connsiteX7" fmla="*/ 2520760 w 3936326"/>
              <a:gd name="connsiteY7" fmla="*/ 5054090 h 5054089"/>
              <a:gd name="connsiteX8" fmla="*/ 0 w 3936326"/>
              <a:gd name="connsiteY8" fmla="*/ 2527045 h 5054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36326" h="5054089">
                <a:moveTo>
                  <a:pt x="0" y="2527045"/>
                </a:moveTo>
                <a:lnTo>
                  <a:pt x="2520760" y="0"/>
                </a:lnTo>
                <a:lnTo>
                  <a:pt x="3936327" y="160"/>
                </a:lnTo>
                <a:lnTo>
                  <a:pt x="3936327" y="2517217"/>
                </a:lnTo>
                <a:lnTo>
                  <a:pt x="3936327" y="2527045"/>
                </a:lnTo>
                <a:lnTo>
                  <a:pt x="3936327" y="2536873"/>
                </a:lnTo>
                <a:lnTo>
                  <a:pt x="3936327" y="5053930"/>
                </a:lnTo>
                <a:lnTo>
                  <a:pt x="2520760" y="5054090"/>
                </a:lnTo>
                <a:lnTo>
                  <a:pt x="0" y="2527045"/>
                </a:lnTo>
                <a:close/>
              </a:path>
            </a:pathLst>
          </a:custGeom>
          <a:noFill/>
          <a:ln w="76200" cap="flat">
            <a:solidFill>
              <a:schemeClr val="accent1">
                <a:alpha val="4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5C16F41-AB55-A798-2572-2EB3B3C4B8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48200" y="1188719"/>
            <a:ext cx="3930650" cy="2605723"/>
          </a:xfrm>
          <a:solidFill>
            <a:schemeClr val="bg1">
              <a:lumMod val="95000"/>
            </a:schemeClr>
          </a:solidFill>
        </p:spPr>
        <p:txBody>
          <a:bodyPr tIns="72000"/>
          <a:lstStyle>
            <a:lvl1pPr algn="r">
              <a:defRPr/>
            </a:lvl1pPr>
          </a:lstStyle>
          <a:p>
            <a:r>
              <a:rPr lang="en-US" dirty="0"/>
              <a:t>INSERT IMAGE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ADD922-CF41-A75F-53E4-C57A2DAE5C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403131"/>
            <a:ext cx="9143358" cy="740369"/>
          </a:xfrm>
          <a:prstGeom prst="rect">
            <a:avLst/>
          </a:prstGeom>
        </p:spPr>
      </p:pic>
      <p:grpSp>
        <p:nvGrpSpPr>
          <p:cNvPr id="15" name="object 200">
            <a:extLst>
              <a:ext uri="{FF2B5EF4-FFF2-40B4-BE49-F238E27FC236}">
                <a16:creationId xmlns:a16="http://schemas.microsoft.com/office/drawing/2014/main" id="{22BC053B-C890-9794-D363-EEA98E53ECF7}"/>
              </a:ext>
            </a:extLst>
          </p:cNvPr>
          <p:cNvGrpSpPr/>
          <p:nvPr userDrawn="1"/>
        </p:nvGrpSpPr>
        <p:grpSpPr>
          <a:xfrm>
            <a:off x="581308" y="4613838"/>
            <a:ext cx="304518" cy="304797"/>
            <a:chOff x="1256507" y="10123407"/>
            <a:chExt cx="690880" cy="691515"/>
          </a:xfrm>
        </p:grpSpPr>
        <p:sp>
          <p:nvSpPr>
            <p:cNvPr id="16" name="object 201">
              <a:extLst>
                <a:ext uri="{FF2B5EF4-FFF2-40B4-BE49-F238E27FC236}">
                  <a16:creationId xmlns:a16="http://schemas.microsoft.com/office/drawing/2014/main" id="{9E389139-9D9F-30BB-28EF-E9F978813614}"/>
                </a:ext>
              </a:extLst>
            </p:cNvPr>
            <p:cNvSpPr/>
            <p:nvPr/>
          </p:nvSpPr>
          <p:spPr>
            <a:xfrm>
              <a:off x="1613591" y="10123686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09">
                  <a:moveTo>
                    <a:pt x="72982" y="0"/>
                  </a:moveTo>
                  <a:lnTo>
                    <a:pt x="0" y="72971"/>
                  </a:lnTo>
                  <a:lnTo>
                    <a:pt x="366" y="333246"/>
                  </a:lnTo>
                  <a:lnTo>
                    <a:pt x="260641" y="333612"/>
                  </a:lnTo>
                  <a:lnTo>
                    <a:pt x="333612" y="260630"/>
                  </a:lnTo>
                  <a:lnTo>
                    <a:pt x="72982" y="0"/>
                  </a:lnTo>
                  <a:close/>
                </a:path>
              </a:pathLst>
            </a:custGeom>
            <a:solidFill>
              <a:srgbClr val="82B4C4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18" name="object 202">
              <a:extLst>
                <a:ext uri="{FF2B5EF4-FFF2-40B4-BE49-F238E27FC236}">
                  <a16:creationId xmlns:a16="http://schemas.microsoft.com/office/drawing/2014/main" id="{7CAC7A98-96A7-F940-99B7-7F9E7B980431}"/>
                </a:ext>
              </a:extLst>
            </p:cNvPr>
            <p:cNvSpPr/>
            <p:nvPr/>
          </p:nvSpPr>
          <p:spPr>
            <a:xfrm>
              <a:off x="1613591" y="10480770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10" h="334009">
                  <a:moveTo>
                    <a:pt x="260641" y="0"/>
                  </a:moveTo>
                  <a:lnTo>
                    <a:pt x="366" y="366"/>
                  </a:lnTo>
                  <a:lnTo>
                    <a:pt x="0" y="260641"/>
                  </a:lnTo>
                  <a:lnTo>
                    <a:pt x="72982" y="333612"/>
                  </a:lnTo>
                  <a:lnTo>
                    <a:pt x="333612" y="72982"/>
                  </a:lnTo>
                  <a:lnTo>
                    <a:pt x="260641" y="0"/>
                  </a:lnTo>
                  <a:close/>
                </a:path>
              </a:pathLst>
            </a:custGeom>
            <a:solidFill>
              <a:srgbClr val="1299A7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19" name="object 203">
              <a:extLst>
                <a:ext uri="{FF2B5EF4-FFF2-40B4-BE49-F238E27FC236}">
                  <a16:creationId xmlns:a16="http://schemas.microsoft.com/office/drawing/2014/main" id="{F0834A21-D802-E553-C0F3-73CE06EEFE35}"/>
                </a:ext>
              </a:extLst>
            </p:cNvPr>
            <p:cNvSpPr/>
            <p:nvPr/>
          </p:nvSpPr>
          <p:spPr>
            <a:xfrm>
              <a:off x="1256507" y="10123407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09">
                  <a:moveTo>
                    <a:pt x="260630" y="0"/>
                  </a:moveTo>
                  <a:lnTo>
                    <a:pt x="0" y="260630"/>
                  </a:lnTo>
                  <a:lnTo>
                    <a:pt x="72971" y="333612"/>
                  </a:lnTo>
                  <a:lnTo>
                    <a:pt x="333246" y="333246"/>
                  </a:lnTo>
                  <a:lnTo>
                    <a:pt x="333612" y="72971"/>
                  </a:lnTo>
                  <a:lnTo>
                    <a:pt x="260630" y="0"/>
                  </a:lnTo>
                  <a:close/>
                </a:path>
              </a:pathLst>
            </a:custGeom>
            <a:solidFill>
              <a:srgbClr val="94D7E2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  <p:sp>
          <p:nvSpPr>
            <p:cNvPr id="21" name="object 204">
              <a:extLst>
                <a:ext uri="{FF2B5EF4-FFF2-40B4-BE49-F238E27FC236}">
                  <a16:creationId xmlns:a16="http://schemas.microsoft.com/office/drawing/2014/main" id="{2B5A1119-5852-77E5-3876-F81E9A36F79A}"/>
                </a:ext>
              </a:extLst>
            </p:cNvPr>
            <p:cNvSpPr/>
            <p:nvPr/>
          </p:nvSpPr>
          <p:spPr>
            <a:xfrm>
              <a:off x="1256507" y="10480493"/>
              <a:ext cx="334010" cy="334010"/>
            </a:xfrm>
            <a:custGeom>
              <a:avLst/>
              <a:gdLst/>
              <a:ahLst/>
              <a:cxnLst/>
              <a:rect l="l" t="t" r="r" b="b"/>
              <a:pathLst>
                <a:path w="334009" h="334009">
                  <a:moveTo>
                    <a:pt x="72971" y="0"/>
                  </a:moveTo>
                  <a:lnTo>
                    <a:pt x="0" y="72982"/>
                  </a:lnTo>
                  <a:lnTo>
                    <a:pt x="260630" y="333612"/>
                  </a:lnTo>
                  <a:lnTo>
                    <a:pt x="333612" y="260641"/>
                  </a:lnTo>
                  <a:lnTo>
                    <a:pt x="333246" y="366"/>
                  </a:lnTo>
                  <a:lnTo>
                    <a:pt x="72971" y="0"/>
                  </a:lnTo>
                  <a:close/>
                </a:path>
              </a:pathLst>
            </a:custGeom>
            <a:solidFill>
              <a:srgbClr val="2E5FAC"/>
            </a:solidFill>
          </p:spPr>
          <p:txBody>
            <a:bodyPr wrap="square" lIns="0" tIns="0" rIns="0" bIns="0" rtlCol="0"/>
            <a:lstStyle/>
            <a:p>
              <a:endParaRPr sz="372"/>
            </a:p>
          </p:txBody>
        </p:sp>
      </p:grpSp>
      <p:sp>
        <p:nvSpPr>
          <p:cNvPr id="22" name="object 199">
            <a:extLst>
              <a:ext uri="{FF2B5EF4-FFF2-40B4-BE49-F238E27FC236}">
                <a16:creationId xmlns:a16="http://schemas.microsoft.com/office/drawing/2014/main" id="{6B861525-A387-0792-4220-B8CDE44B39BA}"/>
              </a:ext>
            </a:extLst>
          </p:cNvPr>
          <p:cNvSpPr txBox="1"/>
          <p:nvPr userDrawn="1"/>
        </p:nvSpPr>
        <p:spPr>
          <a:xfrm>
            <a:off x="915367" y="4595492"/>
            <a:ext cx="1373525" cy="336647"/>
          </a:xfrm>
          <a:prstGeom prst="rect">
            <a:avLst/>
          </a:prstGeom>
        </p:spPr>
        <p:txBody>
          <a:bodyPr vert="horz" wrap="square" lIns="0" tIns="28591" rIns="0" bIns="0" rtlCol="0">
            <a:spAutoFit/>
          </a:bodyPr>
          <a:lstStyle/>
          <a:p>
            <a:pPr marL="5776" marR="2310">
              <a:lnSpc>
                <a:spcPts val="910"/>
              </a:lnSpc>
              <a:spcBef>
                <a:spcPts val="225"/>
              </a:spcBef>
            </a:pPr>
            <a:r>
              <a:rPr sz="910" spc="-2" dirty="0">
                <a:solidFill>
                  <a:srgbClr val="FFFFFF"/>
                </a:solidFill>
                <a:latin typeface="Arial"/>
                <a:cs typeface="Arial"/>
              </a:rPr>
              <a:t>ESRC </a:t>
            </a:r>
            <a:r>
              <a:rPr sz="910" spc="-5" dirty="0">
                <a:solidFill>
                  <a:srgbClr val="FFFFFF"/>
                </a:solidFill>
                <a:latin typeface="Arial Black"/>
                <a:cs typeface="Arial Black"/>
              </a:rPr>
              <a:t>Education  Research</a:t>
            </a:r>
            <a:r>
              <a:rPr sz="91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10" spc="2" dirty="0">
                <a:solidFill>
                  <a:srgbClr val="FFFFFF"/>
                </a:solidFill>
                <a:latin typeface="Arial Black"/>
                <a:cs typeface="Arial Black"/>
              </a:rPr>
              <a:t>Programme</a:t>
            </a:r>
            <a:endParaRPr sz="910" dirty="0">
              <a:latin typeface="Arial Black"/>
              <a:cs typeface="Arial Black"/>
            </a:endParaRPr>
          </a:p>
          <a:p>
            <a:pPr marL="5776">
              <a:lnSpc>
                <a:spcPts val="634"/>
              </a:lnSpc>
            </a:pPr>
            <a:r>
              <a:rPr sz="569" spc="-2" dirty="0">
                <a:solidFill>
                  <a:srgbClr val="FFFFFF"/>
                </a:solidFill>
                <a:latin typeface="Arial"/>
                <a:cs typeface="Arial"/>
              </a:rPr>
              <a:t>Empowering</a:t>
            </a:r>
            <a:r>
              <a:rPr sz="569" spc="-5" dirty="0">
                <a:solidFill>
                  <a:srgbClr val="FFFFFF"/>
                </a:solidFill>
                <a:latin typeface="Arial"/>
                <a:cs typeface="Arial"/>
              </a:rPr>
              <a:t> educators</a:t>
            </a:r>
            <a:endParaRPr sz="569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260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8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568486" y="4718583"/>
            <a:ext cx="1009942" cy="17145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1114" kern="1200" spc="5" dirty="0">
                <a:solidFill>
                  <a:srgbClr val="142E52"/>
                </a:solidFill>
                <a:latin typeface="Arial"/>
                <a:ea typeface="+mn-ea"/>
                <a:cs typeface="Arial"/>
              </a:defRPr>
            </a:lvl1pPr>
          </a:lstStyle>
          <a:p>
            <a:endParaRPr lang="en-GB"/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53F23C43-0451-DB09-FC9F-20BEEE13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13" y="550800"/>
            <a:ext cx="7992715" cy="571512"/>
          </a:xfrm>
          <a:prstGeom prst="rect">
            <a:avLst/>
          </a:prstGeom>
        </p:spPr>
        <p:txBody>
          <a:bodyPr vert="horz" lIns="0" tIns="0" rIns="90000" bIns="45720" rtlCol="0" anchor="t" anchorCtr="0">
            <a:noAutofit/>
          </a:bodyPr>
          <a:lstStyle/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CCE947-B790-2D56-BBBC-F631BF270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5712" y="1141200"/>
            <a:ext cx="7992715" cy="3262312"/>
          </a:xfrm>
          <a:prstGeom prst="rect">
            <a:avLst/>
          </a:prstGeom>
        </p:spPr>
        <p:txBody>
          <a:bodyPr vert="horz" lIns="0" tIns="0" rIns="90000" bIns="45720" rtlCol="0">
            <a:no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5"/>
            <a:r>
              <a:rPr lang="en-GB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1" r:id="rId3"/>
    <p:sldLayoutId id="2147483667" r:id="rId4"/>
    <p:sldLayoutId id="2147483671" r:id="rId5"/>
    <p:sldLayoutId id="2147483662" r:id="rId6"/>
    <p:sldLayoutId id="2147483668" r:id="rId7"/>
    <p:sldLayoutId id="2147483669" r:id="rId8"/>
    <p:sldLayoutId id="2147483672" r:id="rId9"/>
  </p:sldLayoutIdLst>
  <p:txStyles>
    <p:titleStyle>
      <a:lvl1pPr algn="l">
        <a:lnSpc>
          <a:spcPct val="85000"/>
        </a:lnSpc>
        <a:defRPr lang="en-US" sz="3000" b="1" i="0" kern="0" spc="-5" dirty="0">
          <a:solidFill>
            <a:schemeClr val="bg2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0">
        <a:defRPr lang="en-GB" sz="1100" b="1" kern="1200" spc="5" dirty="0" smtClean="0">
          <a:solidFill>
            <a:schemeClr val="bg2"/>
          </a:solidFill>
          <a:latin typeface="Arial"/>
          <a:ea typeface="+mn-ea"/>
          <a:cs typeface="Arial"/>
        </a:defRPr>
      </a:lvl1pPr>
      <a:lvl2pPr marL="4763" indent="0">
        <a:spcAft>
          <a:spcPts val="1400"/>
        </a:spcAft>
        <a:tabLst/>
        <a:defRPr lang="en-GB" sz="1100" kern="1200" spc="2" dirty="0" smtClean="0">
          <a:solidFill>
            <a:schemeClr val="bg2"/>
          </a:solidFill>
          <a:latin typeface="Arial"/>
          <a:ea typeface="+mn-ea"/>
          <a:cs typeface="Arial"/>
        </a:defRPr>
      </a:lvl2pPr>
      <a:lvl3pPr marL="90000" indent="-90000">
        <a:spcAft>
          <a:spcPts val="1400"/>
        </a:spcAft>
        <a:buFont typeface="Arial" panose="020B0604020202020204" pitchFamily="34" charset="0"/>
        <a:buChar char="•"/>
        <a:tabLst/>
        <a:defRPr lang="en-GB" sz="1100" kern="1200" spc="5" dirty="0" smtClean="0">
          <a:solidFill>
            <a:schemeClr val="bg2"/>
          </a:solidFill>
          <a:latin typeface="Arial"/>
          <a:ea typeface="+mn-ea"/>
          <a:cs typeface="Arial"/>
        </a:defRPr>
      </a:lvl3pPr>
      <a:lvl4pPr marL="7938" indent="0">
        <a:tabLst/>
        <a:defRPr lang="en-GB" sz="1100" b="1" kern="1200" spc="2" dirty="0" smtClean="0">
          <a:solidFill>
            <a:schemeClr val="bg2"/>
          </a:solidFill>
          <a:latin typeface="Arial"/>
          <a:ea typeface="+mn-ea"/>
          <a:cs typeface="Arial"/>
        </a:defRPr>
      </a:lvl4pPr>
      <a:lvl5pPr marL="7938" marR="0" indent="0" algn="l" defTabSz="91440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>
          <a:tab pos="441325" algn="l"/>
        </a:tabLst>
        <a:defRPr sz="11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0" indent="0">
        <a:spcAft>
          <a:spcPts val="1400"/>
        </a:spcAft>
        <a:buFont typeface="Arial" panose="020B0604020202020204" pitchFamily="34" charset="0"/>
        <a:buNone/>
        <a:defRPr sz="11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247625">
        <a:defRPr>
          <a:latin typeface="+mn-lt"/>
          <a:ea typeface="+mn-ea"/>
          <a:cs typeface="+mn-cs"/>
        </a:defRPr>
      </a:lvl7pPr>
      <a:lvl8pPr marL="90000" indent="-90000">
        <a:spcAft>
          <a:spcPts val="1400"/>
        </a:spcAft>
        <a:buFont typeface="Arial" panose="020B0604020202020204" pitchFamily="34" charset="0"/>
        <a:buChar char="•"/>
        <a:defRPr sz="11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0" indent="0" algn="l">
        <a:buFont typeface="Arial" panose="020B0604020202020204" pitchFamily="34" charset="0"/>
        <a:buNone/>
        <a:defRPr sz="1100" b="1" i="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07938">
        <a:defRPr>
          <a:latin typeface="+mn-lt"/>
          <a:ea typeface="+mn-ea"/>
          <a:cs typeface="+mn-cs"/>
        </a:defRPr>
      </a:lvl2pPr>
      <a:lvl3pPr marL="415875">
        <a:defRPr>
          <a:latin typeface="+mn-lt"/>
          <a:ea typeface="+mn-ea"/>
          <a:cs typeface="+mn-cs"/>
        </a:defRPr>
      </a:lvl3pPr>
      <a:lvl4pPr marL="623813">
        <a:defRPr>
          <a:latin typeface="+mn-lt"/>
          <a:ea typeface="+mn-ea"/>
          <a:cs typeface="+mn-cs"/>
        </a:defRPr>
      </a:lvl4pPr>
      <a:lvl5pPr marL="831750">
        <a:defRPr>
          <a:latin typeface="+mn-lt"/>
          <a:ea typeface="+mn-ea"/>
          <a:cs typeface="+mn-cs"/>
        </a:defRPr>
      </a:lvl5pPr>
      <a:lvl6pPr marL="1039688">
        <a:defRPr>
          <a:latin typeface="+mn-lt"/>
          <a:ea typeface="+mn-ea"/>
          <a:cs typeface="+mn-cs"/>
        </a:defRPr>
      </a:lvl6pPr>
      <a:lvl7pPr marL="1247625">
        <a:defRPr>
          <a:latin typeface="+mn-lt"/>
          <a:ea typeface="+mn-ea"/>
          <a:cs typeface="+mn-cs"/>
        </a:defRPr>
      </a:lvl7pPr>
      <a:lvl8pPr marL="1455563">
        <a:defRPr>
          <a:latin typeface="+mn-lt"/>
          <a:ea typeface="+mn-ea"/>
          <a:cs typeface="+mn-cs"/>
        </a:defRPr>
      </a:lvl8pPr>
      <a:lvl9pPr marL="16635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.yorke@uc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6665-4A24-39B2-09F3-7EEE7119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7" y="1569617"/>
            <a:ext cx="4968346" cy="1119261"/>
          </a:xfrm>
        </p:spPr>
        <p:txBody>
          <a:bodyPr/>
          <a:lstStyle/>
          <a:p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lang="en-US" sz="2800" dirty="0"/>
              <a:t>Mapping Teacher Recruitment, Retention and Development in the ERP Newsletter</a:t>
            </a:r>
            <a:br>
              <a:rPr lang="en-US" altLang="en-US" sz="2800" dirty="0">
                <a:latin typeface="Arial" panose="020B0604020202020204" pitchFamily="34" charset="0"/>
              </a:rPr>
            </a:br>
            <a:br>
              <a:rPr lang="en-US" altLang="en-US" sz="2800" dirty="0">
                <a:latin typeface="Arial" panose="020B0604020202020204" pitchFamily="34" charset="0"/>
              </a:rPr>
            </a:br>
            <a:r>
              <a:rPr lang="en-US" altLang="en-US" sz="2400" dirty="0">
                <a:latin typeface="Arial" panose="020B0604020202020204" pitchFamily="34" charset="0"/>
              </a:rPr>
              <a:t>30</a:t>
            </a:r>
            <a:r>
              <a:rPr lang="en-US" altLang="en-US" sz="2400" baseline="30000" dirty="0">
                <a:latin typeface="Arial" panose="020B0604020202020204" pitchFamily="34" charset="0"/>
              </a:rPr>
              <a:t>th</a:t>
            </a:r>
            <a:r>
              <a:rPr lang="en-US" altLang="en-US" sz="2400" dirty="0">
                <a:latin typeface="Arial" panose="020B0604020202020204" pitchFamily="34" charset="0"/>
              </a:rPr>
              <a:t> March 2026</a:t>
            </a:r>
            <a:br>
              <a:rPr lang="en-US" altLang="en-US" sz="2400" dirty="0">
                <a:latin typeface="Arial" panose="020B0604020202020204" pitchFamily="34" charset="0"/>
              </a:rPr>
            </a:br>
            <a:br>
              <a:rPr lang="en-US" altLang="en-US" sz="1600" dirty="0">
                <a:latin typeface="Arial" panose="020B0604020202020204" pitchFamily="34" charset="0"/>
              </a:rPr>
            </a:br>
            <a:r>
              <a:rPr lang="en-US" sz="1800" dirty="0">
                <a:solidFill>
                  <a:schemeClr val="bg1"/>
                </a:solidFill>
              </a:rPr>
              <a:t>Louise Yorke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hlinkClick r:id="rId3"/>
              </a:rPr>
              <a:t>l.yorke@ucl.ac.uk</a:t>
            </a:r>
            <a:r>
              <a:rPr lang="en-US" sz="1800" dirty="0"/>
              <a:t> </a:t>
            </a:r>
            <a:br>
              <a:rPr lang="en-US" sz="18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6812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5C84-BEF8-5D92-A31A-BAF47A6E6C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4919" y="948717"/>
            <a:ext cx="7676281" cy="2929015"/>
          </a:xfrm>
        </p:spPr>
        <p:txBody>
          <a:bodyPr/>
          <a:lstStyle/>
          <a:p>
            <a:r>
              <a:rPr lang="en-US" sz="2000" dirty="0"/>
              <a:t>Key Question: </a:t>
            </a:r>
            <a:r>
              <a:rPr lang="en-US" sz="2000" b="0" dirty="0"/>
              <a:t>What does the ERP newsletter reveal about how teacher recruitment, retention and development (TRRD) is framed, and what are the gaps that we should pay attention to?</a:t>
            </a:r>
          </a:p>
          <a:p>
            <a:endParaRPr lang="en-US" sz="20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dirty="0"/>
              <a:t>Who contributes to the conversation?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dirty="0"/>
              <a:t>How is TRRD discussed and how has this shifted over time?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 dirty="0"/>
              <a:t>How are teachers discussed across EdTech and mental health &amp; wellbeing?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56477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F369B-DCB1-7BFA-C05A-E4EEB3C3C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571750"/>
            <a:ext cx="3424789" cy="1268835"/>
          </a:xfrm>
        </p:spPr>
        <p:txBody>
          <a:bodyPr/>
          <a:lstStyle/>
          <a:p>
            <a:pPr algn="r"/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0658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BDAE-C26B-363C-E3AD-FB7A2BB33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05" y="211361"/>
            <a:ext cx="7249316" cy="974424"/>
          </a:xfrm>
        </p:spPr>
        <p:txBody>
          <a:bodyPr/>
          <a:lstStyle/>
          <a:p>
            <a:r>
              <a:rPr lang="en-US" dirty="0"/>
              <a:t>ERP Newsletter Overview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6DA04-9A22-95AC-02EB-EE93DB9912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3905" y="912312"/>
            <a:ext cx="7787295" cy="3202488"/>
          </a:xfrm>
        </p:spPr>
        <p:txBody>
          <a:bodyPr/>
          <a:lstStyle/>
          <a:p>
            <a:r>
              <a:rPr lang="en-US" sz="2000" dirty="0"/>
              <a:t>How the newsletter works: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Weekly digest of education content curated by the ERP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12–20 items per issue, </a:t>
            </a:r>
            <a:r>
              <a:rPr lang="en-US" sz="2000" b="0" dirty="0" err="1"/>
              <a:t>categorised</a:t>
            </a:r>
            <a:r>
              <a:rPr lang="en-US" sz="2000" b="0" dirty="0"/>
              <a:t> into themes and subthemes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Descriptions drawn directly from the original source</a:t>
            </a:r>
          </a:p>
          <a:p>
            <a:endParaRPr lang="en-US" sz="2000" b="0" dirty="0"/>
          </a:p>
          <a:p>
            <a:r>
              <a:rPr lang="en-US" sz="2000" dirty="0"/>
              <a:t>The full dataset: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107 issues, 102 in this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1,654 items, 212 organisations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July 2023 </a:t>
            </a:r>
            <a:r>
              <a:rPr lang="en-US" b="0" dirty="0"/>
              <a:t>-</a:t>
            </a:r>
            <a:r>
              <a:rPr lang="en-US" sz="2000" b="0" dirty="0"/>
              <a:t> March 2026</a:t>
            </a:r>
          </a:p>
        </p:txBody>
      </p:sp>
    </p:spTree>
    <p:extLst>
      <p:ext uri="{BB962C8B-B14F-4D97-AF65-F5344CB8AC3E}">
        <p14:creationId xmlns:p14="http://schemas.microsoft.com/office/powerpoint/2010/main" val="137153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CDB5B-B4AC-7643-52E2-8D91FCA5A4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1801" y="698573"/>
            <a:ext cx="8043202" cy="800079"/>
          </a:xfrm>
        </p:spPr>
        <p:txBody>
          <a:bodyPr>
            <a:no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233 items (14% of the newsletter) from 42 unique organisations</a:t>
            </a:r>
          </a:p>
          <a:p>
            <a:pPr marL="290513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Media (n=386); Government (n=327); Academic &amp; research (n=342); Civil society &amp; think tanks (n=275); Other (n=69)</a:t>
            </a:r>
            <a:endParaRPr lang="en-US" sz="1400" b="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dirty="0"/>
              <a:t> </a:t>
            </a:r>
            <a:endParaRPr lang="en-US" sz="1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1D21C9D-808E-1613-72C9-1AFB6EF6D29B}"/>
              </a:ext>
            </a:extLst>
          </p:cNvPr>
          <p:cNvSpPr txBox="1">
            <a:spLocks/>
          </p:cNvSpPr>
          <p:nvPr/>
        </p:nvSpPr>
        <p:spPr>
          <a:xfrm>
            <a:off x="445879" y="778793"/>
            <a:ext cx="7730711" cy="3189980"/>
          </a:xfrm>
          <a:prstGeom prst="rect">
            <a:avLst/>
          </a:prstGeom>
        </p:spPr>
        <p:txBody>
          <a:bodyPr vert="horz" lIns="0" tIns="0" rIns="90000" bIns="45720" rtlCol="0">
            <a:normAutofit/>
          </a:bodyPr>
          <a:lstStyle>
            <a:lvl1pPr marL="0">
              <a:defRPr lang="en-GB" sz="1100" b="1" kern="1200" spc="5" dirty="0" smtClean="0">
                <a:solidFill>
                  <a:schemeClr val="bg2"/>
                </a:solidFill>
                <a:latin typeface="Arial"/>
                <a:ea typeface="+mn-ea"/>
                <a:cs typeface="Arial"/>
              </a:defRPr>
            </a:lvl1pPr>
            <a:lvl2pPr marL="4763" indent="0">
              <a:spcAft>
                <a:spcPts val="1400"/>
              </a:spcAft>
              <a:tabLst/>
              <a:defRPr lang="en-GB" sz="1100" kern="1200" spc="2" dirty="0" smtClean="0">
                <a:solidFill>
                  <a:schemeClr val="bg2"/>
                </a:solidFill>
                <a:latin typeface="Arial"/>
                <a:ea typeface="+mn-ea"/>
                <a:cs typeface="Arial"/>
              </a:defRPr>
            </a:lvl2pPr>
            <a:lvl3pPr marL="90000" indent="-90000">
              <a:spcAft>
                <a:spcPts val="1400"/>
              </a:spcAft>
              <a:buFont typeface="Arial" panose="020B0604020202020204" pitchFamily="34" charset="0"/>
              <a:buChar char="•"/>
              <a:tabLst/>
              <a:defRPr lang="en-GB" sz="1100" kern="1200" spc="5" dirty="0" smtClean="0">
                <a:solidFill>
                  <a:schemeClr val="bg2"/>
                </a:solidFill>
                <a:latin typeface="Arial"/>
                <a:ea typeface="+mn-ea"/>
                <a:cs typeface="Arial"/>
              </a:defRPr>
            </a:lvl3pPr>
            <a:lvl4pPr marL="7938" indent="0">
              <a:tabLst/>
              <a:defRPr lang="en-GB" sz="1100" b="1" kern="1200" spc="2" dirty="0" smtClean="0">
                <a:solidFill>
                  <a:schemeClr val="bg2"/>
                </a:solidFill>
                <a:latin typeface="Arial"/>
                <a:ea typeface="+mn-ea"/>
                <a:cs typeface="Arial"/>
              </a:defRPr>
            </a:lvl4pPr>
            <a:lvl5pPr marL="7938" marR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41325" algn="l"/>
              </a:tabLst>
              <a:defRPr sz="11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0" indent="0">
              <a:spcAft>
                <a:spcPts val="1400"/>
              </a:spcAft>
              <a:buFont typeface="Arial" panose="020B0604020202020204" pitchFamily="34" charset="0"/>
              <a:buNone/>
              <a:defRPr sz="11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1247625">
              <a:defRPr>
                <a:latin typeface="+mn-lt"/>
                <a:ea typeface="+mn-ea"/>
                <a:cs typeface="+mn-cs"/>
              </a:defRPr>
            </a:lvl7pPr>
            <a:lvl8pPr marL="90000" indent="-90000">
              <a:spcAft>
                <a:spcPts val="1400"/>
              </a:spcAft>
              <a:buFont typeface="Arial" panose="020B0604020202020204" pitchFamily="34" charset="0"/>
              <a:buChar char="•"/>
              <a:defRPr sz="11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>
              <a:buFont typeface="Arial" panose="020B0604020202020204" pitchFamily="34" charset="0"/>
              <a:buNone/>
              <a:defRPr sz="1100" b="1" i="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defTabSz="914400"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CA242D8-5203-FD45-77DF-57D63A363FB8}"/>
              </a:ext>
            </a:extLst>
          </p:cNvPr>
          <p:cNvSpPr txBox="1">
            <a:spLocks/>
          </p:cNvSpPr>
          <p:nvPr/>
        </p:nvSpPr>
        <p:spPr>
          <a:xfrm>
            <a:off x="543905" y="211361"/>
            <a:ext cx="7249316" cy="974424"/>
          </a:xfrm>
          <a:prstGeom prst="rect">
            <a:avLst/>
          </a:prstGeom>
        </p:spPr>
        <p:txBody>
          <a:bodyPr vert="horz" lIns="0" tIns="0" rIns="90000" bIns="45720" rtlCol="0" anchor="t" anchorCtr="0">
            <a:noAutofit/>
          </a:bodyPr>
          <a:lstStyle>
            <a:lvl1pPr algn="l">
              <a:lnSpc>
                <a:spcPct val="85000"/>
              </a:lnSpc>
              <a:defRPr lang="en-US" sz="3000" b="1" i="0" kern="0" spc="-5" dirty="0">
                <a:solidFill>
                  <a:schemeClr val="bg2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defTabSz="914400"/>
            <a:r>
              <a:rPr lang="en-US" b="0" dirty="0"/>
              <a:t>TRRD in the Newsletter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017166-5FAF-6C2B-2692-C0EBF15FEF55}"/>
              </a:ext>
            </a:extLst>
          </p:cNvPr>
          <p:cNvSpPr txBox="1"/>
          <p:nvPr/>
        </p:nvSpPr>
        <p:spPr>
          <a:xfrm>
            <a:off x="7523356" y="3060832"/>
            <a:ext cx="1489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 dirty="0"/>
              <a:t>Note: </a:t>
            </a:r>
            <a:r>
              <a:rPr lang="en-US" sz="1600" i="1" dirty="0"/>
              <a:t>2023 and 2026 are partial years - figures should be interpreted with caution.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9740B65-82B7-6090-AA0E-1F85742E70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66" y="1498652"/>
            <a:ext cx="7281812" cy="359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23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8DF0-8D04-E972-F8CF-F7C192E5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01" y="123211"/>
            <a:ext cx="8572842" cy="974424"/>
          </a:xfrm>
        </p:spPr>
        <p:txBody>
          <a:bodyPr/>
          <a:lstStyle/>
          <a:p>
            <a:r>
              <a:rPr lang="en-US" dirty="0"/>
              <a:t>Who dominates the discourse on TRRD?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DDE996-3636-6DFB-09FA-734078C542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71743"/>
            <a:ext cx="7249315" cy="418360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C5CA8E10-BCA4-0F00-A366-AD30C588EEF4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249314" y="1316993"/>
            <a:ext cx="1894686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0" dirty="0">
                <a:solidFill>
                  <a:schemeClr val="tx1"/>
                </a:solidFill>
                <a:latin typeface="Arial" panose="020B0604020202020204" pitchFamily="34" charset="0"/>
              </a:rPr>
              <a:t>The conversation is shaped by high-output media and selective expertise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Schools Week dominates by volume (27% of TRRD coverage)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NFER contributes selectively - 2% of overall dataset  but nearly half its items are on TRRD</a:t>
            </a:r>
          </a:p>
        </p:txBody>
      </p:sp>
    </p:spTree>
    <p:extLst>
      <p:ext uri="{BB962C8B-B14F-4D97-AF65-F5344CB8AC3E}">
        <p14:creationId xmlns:p14="http://schemas.microsoft.com/office/powerpoint/2010/main" val="138363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162A6-43B0-9ECD-A9C9-041D4574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258CF-21E8-5D72-A4E2-0AE84DF88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667" y="2351617"/>
            <a:ext cx="4305323" cy="1268835"/>
          </a:xfrm>
        </p:spPr>
        <p:txBody>
          <a:bodyPr/>
          <a:lstStyle/>
          <a:p>
            <a:pPr algn="r"/>
            <a:r>
              <a:rPr lang="en-US" b="0" dirty="0"/>
              <a:t>How is TRRD discussed?</a:t>
            </a:r>
          </a:p>
        </p:txBody>
      </p:sp>
    </p:spTree>
    <p:extLst>
      <p:ext uri="{BB962C8B-B14F-4D97-AF65-F5344CB8AC3E}">
        <p14:creationId xmlns:p14="http://schemas.microsoft.com/office/powerpoint/2010/main" val="2153299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470070-5410-1E7D-AB7C-2BABB3186D34}"/>
              </a:ext>
            </a:extLst>
          </p:cNvPr>
          <p:cNvSpPr txBox="1"/>
          <p:nvPr/>
        </p:nvSpPr>
        <p:spPr>
          <a:xfrm>
            <a:off x="278055" y="2636883"/>
            <a:ext cx="3212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UCL Sans" pitchFamily="2" charset="7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24516C-12D8-B0CD-4374-BC572977A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66294"/>
              </p:ext>
            </p:extLst>
          </p:nvPr>
        </p:nvGraphicFramePr>
        <p:xfrm>
          <a:off x="195886" y="911067"/>
          <a:ext cx="8587892" cy="345999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4914">
                  <a:extLst>
                    <a:ext uri="{9D8B030D-6E8A-4147-A177-3AD203B41FA5}">
                      <a16:colId xmlns:a16="http://schemas.microsoft.com/office/drawing/2014/main" val="385005467"/>
                    </a:ext>
                  </a:extLst>
                </a:gridCol>
                <a:gridCol w="4605867">
                  <a:extLst>
                    <a:ext uri="{9D8B030D-6E8A-4147-A177-3AD203B41FA5}">
                      <a16:colId xmlns:a16="http://schemas.microsoft.com/office/drawing/2014/main" val="3618924391"/>
                    </a:ext>
                  </a:extLst>
                </a:gridCol>
                <a:gridCol w="2071821">
                  <a:extLst>
                    <a:ext uri="{9D8B030D-6E8A-4147-A177-3AD203B41FA5}">
                      <a16:colId xmlns:a16="http://schemas.microsoft.com/office/drawing/2014/main" val="3627047294"/>
                    </a:ext>
                  </a:extLst>
                </a:gridCol>
                <a:gridCol w="785290">
                  <a:extLst>
                    <a:ext uri="{9D8B030D-6E8A-4147-A177-3AD203B41FA5}">
                      <a16:colId xmlns:a16="http://schemas.microsoft.com/office/drawing/2014/main" val="372183959"/>
                    </a:ext>
                  </a:extLst>
                </a:gridCol>
              </a:tblGrid>
              <a:tr h="173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Top 5 Keywords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423603"/>
                  </a:ext>
                </a:extLst>
              </a:tr>
              <a:tr h="84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Supply &amp;  pipeline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Refers to the systems and processes involved in attracting, training, and retaining sufficient numbers of teachers to meet workforce demand.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recruitment, retention, training, shortage, workforce</a:t>
                      </a:r>
                      <a:endParaRPr 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53%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554860"/>
                  </a:ext>
                </a:extLst>
              </a:tr>
              <a:tr h="543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Crisis &amp; Reform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Refers to how teaching and education are represented through political narratives, including policy agendas, crisis discourse, and proposed reforms.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crisis, reform, targets, parliament, DfE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38%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305662"/>
                  </a:ext>
                </a:extLst>
              </a:tr>
              <a:tr h="543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Professional development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Refers to structured and ongoing opportunities for teachers to develop skills, progress in their careers, and take on leadership roles.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CPD, career, leadership, NPQ, ECF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35%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24392"/>
                  </a:ext>
                </a:extLst>
              </a:tr>
              <a:tr h="617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Working conditions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Refers to the material and psychological conditions of teachers’ work, including pay, workload, and overall wellbeing.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pay, workload, wellbeing, stress, burnout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30%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1477"/>
                  </a:ext>
                </a:extLst>
              </a:tr>
              <a:tr h="5437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 &amp; equity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Refers to efforts to promote inclusion, representation, and equitable support for diverse and disadvantaged groups within education.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diversity, disadvantaged, SEND, inclusion, communities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12% 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78695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70B12D-FD09-2E5E-42B4-AFB91052C305}"/>
              </a:ext>
            </a:extLst>
          </p:cNvPr>
          <p:cNvSpPr txBox="1"/>
          <p:nvPr/>
        </p:nvSpPr>
        <p:spPr>
          <a:xfrm>
            <a:off x="230008" y="4540930"/>
            <a:ext cx="8553770" cy="52322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400" i="1" dirty="0">
                <a:solidFill>
                  <a:schemeClr val="tx1"/>
                </a:solidFill>
              </a:rPr>
              <a:t>Frames were defined by the researchers and applied through keyword matching - items can carry multiple frames, so percentages sum to more than 100%.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359ABCF-8617-82B0-3A9D-506488C2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6" y="266045"/>
            <a:ext cx="5221963" cy="571512"/>
          </a:xfrm>
        </p:spPr>
        <p:txBody>
          <a:bodyPr/>
          <a:lstStyle/>
          <a:p>
            <a:r>
              <a:rPr lang="en-US" dirty="0"/>
              <a:t>How TRRD is discussed: </a:t>
            </a:r>
          </a:p>
        </p:txBody>
      </p:sp>
    </p:spTree>
    <p:extLst>
      <p:ext uri="{BB962C8B-B14F-4D97-AF65-F5344CB8AC3E}">
        <p14:creationId xmlns:p14="http://schemas.microsoft.com/office/powerpoint/2010/main" val="82416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625A74-ED07-A487-EF44-FC5926CB0057}"/>
              </a:ext>
            </a:extLst>
          </p:cNvPr>
          <p:cNvSpPr txBox="1"/>
          <p:nvPr/>
        </p:nvSpPr>
        <p:spPr>
          <a:xfrm>
            <a:off x="206931" y="137160"/>
            <a:ext cx="77468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/>
              <a:t>How key organisations discuss teacher recruitment</a:t>
            </a:r>
            <a:endParaRPr sz="2400" b="1" dirty="0">
              <a:solidFill>
                <a:srgbClr val="002060"/>
              </a:solidFill>
              <a:latin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0154B0-7C2C-6FE8-7191-AEB8E6EF2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459466"/>
              </p:ext>
            </p:extLst>
          </p:nvPr>
        </p:nvGraphicFramePr>
        <p:xfrm>
          <a:off x="703527" y="660380"/>
          <a:ext cx="7998297" cy="3381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4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8100">
                <a:tc>
                  <a:txBody>
                    <a:bodyPr/>
                    <a:lstStyle/>
                    <a:p>
                      <a:pPr algn="l"/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Supply &amp;
Pipeline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Working
Conditions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Professional
Development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Diversity &amp;
Equity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Crisis &amp;
Reform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No. Items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0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British Educational Research Association (BERA)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45000" marR="45000" marT="45000" marB="45000">
                    <a:solidFill>
                      <a:srgbClr val="8E9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45000" marB="45000">
                    <a:solidFill>
                      <a:srgbClr val="AAB5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 marL="45000" marR="45000" marT="45000" marB="45000">
                    <a:solidFill>
                      <a:srgbClr val="546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5000" marR="45000" marT="45000" marB="45000">
                    <a:solidFill>
                      <a:srgbClr val="E2E6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45000" marB="45000">
                    <a:solidFill>
                      <a:srgbClr val="AAB5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000" marR="45000" marT="45000" marB="4500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0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Chartered College of Teaching (CCT)</a:t>
                      </a:r>
                    </a:p>
                  </a:txBody>
                  <a:tcPr marL="45000" marR="45000" marT="45000" marB="45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45000" marR="45000" marT="45000" marB="45000">
                    <a:solidFill>
                      <a:srgbClr val="CCD2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AAAAA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45000" marR="45000" marT="45000" marB="45000">
                    <a:solidFill>
                      <a:srgbClr val="6679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000" marR="45000" marT="45000" marB="4500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Education Endowment Foundation (EEF)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45000" marB="45000">
                    <a:solidFill>
                      <a:srgbClr val="AAB5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AAAAA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AAAAA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 marL="45000" marR="45000" marT="45000" marB="45000">
                    <a:solidFill>
                      <a:srgbClr val="54699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000" marR="45000" marT="45000" marB="4500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Education Policy Institute (EPI)</a:t>
                      </a:r>
                    </a:p>
                  </a:txBody>
                  <a:tcPr marL="45000" marR="45000" marT="45000" marB="45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45000" marR="45000" marT="45000" marB="45000">
                    <a:solidFill>
                      <a:srgbClr val="9EAA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45000" marR="45000" marT="45000" marB="45000">
                    <a:solidFill>
                      <a:srgbClr val="BFC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45000" marR="45000" marT="45000" marB="45000">
                    <a:solidFill>
                      <a:srgbClr val="5E72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 marL="45000" marR="45000" marT="45000" marB="45000">
                    <a:solidFill>
                      <a:srgbClr val="DDE2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45000" marR="45000" marT="45000" marB="45000">
                    <a:solidFill>
                      <a:srgbClr val="BFC7D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000" marR="45000" marT="45000" marB="4500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Nat. Foundation for Educational Research (NFER)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45000" marR="45000" marT="45000" marB="45000">
                    <a:solidFill>
                      <a:srgbClr val="475E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45000" marR="45000" marT="45000" marB="45000">
                    <a:solidFill>
                      <a:srgbClr val="D3D9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45000" marR="45000" marT="45000" marB="45000">
                    <a:solidFill>
                      <a:srgbClr val="B7C0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45000" marB="45000">
                    <a:solidFill>
                      <a:srgbClr val="AAB5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45000" marB="45000">
                    <a:solidFill>
                      <a:srgbClr val="AAB5C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000" marR="45000" marT="45000" marB="4500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653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chemeClr val="tx1"/>
                          </a:solidFill>
                          <a:latin typeface="Calibri"/>
                        </a:rPr>
                        <a:t>UK Government</a:t>
                      </a:r>
                    </a:p>
                  </a:txBody>
                  <a:tcPr marL="45000" marR="45000" marT="45000" marB="45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45000" marR="45000" marT="45000" marB="45000">
                    <a:solidFill>
                      <a:srgbClr val="8E9C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L="45000" marR="45000" marT="45000" marB="45000">
                    <a:solidFill>
                      <a:srgbClr val="9BA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39%</a:t>
                      </a:r>
                    </a:p>
                  </a:txBody>
                  <a:tcPr marL="45000" marR="45000" marT="45000" marB="45000">
                    <a:solidFill>
                      <a:srgbClr val="9BA8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5000" marR="45000" marT="45000" marB="45000">
                    <a:solidFill>
                      <a:srgbClr val="EF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45000" marR="45000" marT="45000" marB="45000">
                    <a:solidFill>
                      <a:srgbClr val="63769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000" marR="45000" marT="45000" marB="4500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653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UK Parliament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45000" marR="45000" marT="45000" marB="4500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AAAA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A1A2E"/>
                          </a:solidFill>
                          <a:latin typeface="Calibri"/>
                        </a:rPr>
                        <a:t>17%</a:t>
                      </a:r>
                    </a:p>
                  </a:txBody>
                  <a:tcPr marL="45000" marR="45000" marT="45000" marB="45000">
                    <a:solidFill>
                      <a:srgbClr val="D3D9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AAAAA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000" marR="45000" marT="45000" marB="45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45000" marR="45000" marT="45000" marB="45000">
                    <a:solidFill>
                      <a:srgbClr val="2B45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tx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000" marR="45000" marT="45000" marB="45000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CE97E27-04BF-DC69-7540-4CF6FE92679D}"/>
              </a:ext>
            </a:extLst>
          </p:cNvPr>
          <p:cNvSpPr txBox="1"/>
          <p:nvPr/>
        </p:nvSpPr>
        <p:spPr>
          <a:xfrm>
            <a:off x="572849" y="4242291"/>
            <a:ext cx="8259651" cy="5847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Government and media focus on supply and crisis while academic bodies focus on professional development.</a:t>
            </a:r>
          </a:p>
        </p:txBody>
      </p:sp>
    </p:spTree>
    <p:extLst>
      <p:ext uri="{BB962C8B-B14F-4D97-AF65-F5344CB8AC3E}">
        <p14:creationId xmlns:p14="http://schemas.microsoft.com/office/powerpoint/2010/main" val="70729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22D7-D2E2-DD3F-A94A-B2664742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Discourse on TRRD over time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C5878-F583-FBB8-98A0-E20F4A815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57" y="852406"/>
            <a:ext cx="8414831" cy="31114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96B8E0-4473-6D65-0C09-0CAB16708969}"/>
              </a:ext>
            </a:extLst>
          </p:cNvPr>
          <p:cNvSpPr txBox="1"/>
          <p:nvPr/>
        </p:nvSpPr>
        <p:spPr>
          <a:xfrm>
            <a:off x="519764" y="4382840"/>
            <a:ext cx="8259651" cy="33855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/>
              <a:t>Supply &amp; Pipeline dominates throughout, the election temporarily amplified crisis framing</a:t>
            </a:r>
          </a:p>
        </p:txBody>
      </p:sp>
    </p:spTree>
    <p:extLst>
      <p:ext uri="{BB962C8B-B14F-4D97-AF65-F5344CB8AC3E}">
        <p14:creationId xmlns:p14="http://schemas.microsoft.com/office/powerpoint/2010/main" val="260781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857B-17AD-8D94-0BF8-225116A2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C856-9F1E-5874-54C1-743A60FA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534" y="1937332"/>
            <a:ext cx="4305323" cy="2058935"/>
          </a:xfrm>
        </p:spPr>
        <p:txBody>
          <a:bodyPr/>
          <a:lstStyle/>
          <a:p>
            <a:pPr algn="r"/>
            <a:r>
              <a:rPr lang="en-US" sz="3200" b="0" dirty="0"/>
              <a:t>How are teachers discussed across EdTech and Mental Health &amp; Wellbeing?</a:t>
            </a:r>
          </a:p>
        </p:txBody>
      </p:sp>
    </p:spTree>
    <p:extLst>
      <p:ext uri="{BB962C8B-B14F-4D97-AF65-F5344CB8AC3E}">
        <p14:creationId xmlns:p14="http://schemas.microsoft.com/office/powerpoint/2010/main" val="3992606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CA3D-B9BA-70CC-27F9-E224E9E1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Teachers in the EdTech Conversation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CFF6D24B-0BEC-02B0-98DB-914506403F1B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374479" y="1100527"/>
            <a:ext cx="39050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 the EdTech section, 67 items discuss teachers 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keywords: ‘teacher’, ‘CPD’, ‘professional development’, ‘workforce’, ‘leadership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’)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Government and parliament lead the teacher conversation in EdTech;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b="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</a:rPr>
              <a:t>Practitioner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bodies (Chartered College, Teacher Tapp, Nuffield) are well represented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919EC75-3E5E-F7AF-9541-76D808193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577" y="962672"/>
            <a:ext cx="4724400" cy="2692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04FB170-DA60-4FEF-0B9A-1CB9D9850D9F}"/>
              </a:ext>
            </a:extLst>
          </p:cNvPr>
          <p:cNvSpPr txBox="1"/>
          <p:nvPr/>
        </p:nvSpPr>
        <p:spPr>
          <a:xfrm>
            <a:off x="572849" y="4242291"/>
            <a:ext cx="8259651" cy="5847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When teachers appear in EdTech coverage, the conversation is primarily about AI tools and learning outcomes</a:t>
            </a:r>
            <a:endParaRPr lang="en-US" altLang="en-US" sz="16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078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FC32A9-8E7C-E7C4-4071-98FB9D1E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8BB63A-0EF4-CB63-90D0-333EEEEE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6" y="227147"/>
            <a:ext cx="8116696" cy="974424"/>
          </a:xfrm>
        </p:spPr>
        <p:txBody>
          <a:bodyPr/>
          <a:lstStyle/>
          <a:p>
            <a:r>
              <a:rPr lang="en-US" sz="2800" dirty="0"/>
              <a:t>Mental Health &amp; Wellbeing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E65FF-85EE-A2E5-8477-171F94250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" t="3296" r="10075" b="18759"/>
          <a:stretch>
            <a:fillRect/>
          </a:stretch>
        </p:blipFill>
        <p:spPr>
          <a:xfrm>
            <a:off x="1524000" y="2177200"/>
            <a:ext cx="6095999" cy="21216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CAE8D8-85C6-4910-5487-B0C6CFC38C63}"/>
              </a:ext>
            </a:extLst>
          </p:cNvPr>
          <p:cNvSpPr txBox="1"/>
          <p:nvPr/>
        </p:nvSpPr>
        <p:spPr>
          <a:xfrm>
            <a:off x="541867" y="853761"/>
            <a:ext cx="77707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53 items discuss mental health &amp; wellbeing - drawn from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Teacher RRD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What Matters in Education sections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 (stable coverage across time)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Parliamentary and media sources lead the conversation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After the election, mental health discourse shifted from teacher conditions toward pupil wellbeing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D0BA61-4B74-7F30-4995-769E926F6E40}"/>
              </a:ext>
            </a:extLst>
          </p:cNvPr>
          <p:cNvSpPr txBox="1"/>
          <p:nvPr/>
        </p:nvSpPr>
        <p:spPr>
          <a:xfrm>
            <a:off x="442173" y="4453090"/>
            <a:ext cx="8259651" cy="33855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Post-election, attention shifted from teacher conditions to pupil wellbeing</a:t>
            </a:r>
            <a:endParaRPr lang="en-US" altLang="en-US" sz="16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813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BA9D-5760-3339-3E26-D9AF8D6E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A8CB-899E-F70A-1AB2-960E6DEB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1" y="2242132"/>
            <a:ext cx="4085190" cy="2058935"/>
          </a:xfrm>
        </p:spPr>
        <p:txBody>
          <a:bodyPr/>
          <a:lstStyle/>
          <a:p>
            <a:pPr algn="r"/>
            <a:r>
              <a:rPr lang="en-US" sz="3600" b="0" dirty="0"/>
              <a:t>Summary and Key Insights</a:t>
            </a:r>
          </a:p>
        </p:txBody>
      </p:sp>
    </p:spTree>
    <p:extLst>
      <p:ext uri="{BB962C8B-B14F-4D97-AF65-F5344CB8AC3E}">
        <p14:creationId xmlns:p14="http://schemas.microsoft.com/office/powerpoint/2010/main" val="1676658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0D108-91CC-29F8-0349-72B778F2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4CE19-5BD2-38E5-5E95-9263ADC6D1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3905" y="846051"/>
            <a:ext cx="7471343" cy="2286518"/>
          </a:xfrm>
        </p:spPr>
        <p:txBody>
          <a:bodyPr/>
          <a:lstStyle/>
          <a:p>
            <a:r>
              <a:rPr lang="en-US" sz="1300" b="0" dirty="0">
                <a:highlight>
                  <a:srgbClr val="FFFF00"/>
                </a:highlight>
              </a:rPr>
              <a:t>Three insights around these questions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0" dirty="0">
                <a:highlight>
                  <a:srgbClr val="FFFF00"/>
                </a:highlight>
              </a:rPr>
              <a:t>Who contributes to the conversation?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0" dirty="0">
                <a:highlight>
                  <a:srgbClr val="FFFF00"/>
                </a:highlight>
              </a:rPr>
              <a:t>How is TRRD discussed and how has this shifted over time?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b="0" dirty="0">
                <a:highlight>
                  <a:srgbClr val="FFFF00"/>
                </a:highlight>
              </a:rPr>
              <a:t>How are teachers discussed across EdTech and mental health &amp; wellbeing?</a:t>
            </a:r>
          </a:p>
          <a:p>
            <a:endParaRPr lang="en-US" sz="1300" b="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9645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9AE1-E8CF-766D-9CAC-74DE6046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E368-291E-647C-B846-74A899745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1" y="2242132"/>
            <a:ext cx="4085190" cy="2058935"/>
          </a:xfrm>
        </p:spPr>
        <p:txBody>
          <a:bodyPr/>
          <a:lstStyle/>
          <a:p>
            <a:pPr algn="r"/>
            <a:r>
              <a:rPr lang="en-US" sz="3600" b="0" dirty="0"/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4215846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5393D-41E6-9729-B98A-AECACA41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342" y="1836961"/>
            <a:ext cx="7249316" cy="974424"/>
          </a:xfrm>
        </p:spPr>
        <p:txBody>
          <a:bodyPr/>
          <a:lstStyle/>
          <a:p>
            <a:pPr algn="ctr"/>
            <a:r>
              <a:rPr lang="en-US" dirty="0"/>
              <a:t>***EXTRA SLIDES***</a:t>
            </a:r>
          </a:p>
        </p:txBody>
      </p:sp>
    </p:spTree>
    <p:extLst>
      <p:ext uri="{BB962C8B-B14F-4D97-AF65-F5344CB8AC3E}">
        <p14:creationId xmlns:p14="http://schemas.microsoft.com/office/powerpoint/2010/main" val="192060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0"/>
    </mc:Choice>
    <mc:Fallback xmlns="">
      <p:transition spd="med" advClick="0" advTm="50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1B8997-10AC-001B-877D-3E577FD6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ECD2853-48DB-90D5-41EF-B54D26D7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86" y="227147"/>
            <a:ext cx="8116696" cy="974424"/>
          </a:xfrm>
        </p:spPr>
        <p:txBody>
          <a:bodyPr/>
          <a:lstStyle/>
          <a:p>
            <a:r>
              <a:rPr lang="en-US" sz="2800" dirty="0"/>
              <a:t>Teachers and Mental Health &amp; Wellbeing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2C650-CFCD-0F74-9A28-6097588AA6B4}"/>
              </a:ext>
            </a:extLst>
          </p:cNvPr>
          <p:cNvSpPr txBox="1"/>
          <p:nvPr/>
        </p:nvSpPr>
        <p:spPr>
          <a:xfrm>
            <a:off x="278055" y="2636883"/>
            <a:ext cx="3212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UCL Sans" pitchFamily="2" charset="77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2D85D08-7BF9-7BEF-87BD-8EA4F1DEC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753149"/>
              </p:ext>
            </p:extLst>
          </p:nvPr>
        </p:nvGraphicFramePr>
        <p:xfrm>
          <a:off x="195886" y="917876"/>
          <a:ext cx="8587892" cy="34380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6381">
                  <a:extLst>
                    <a:ext uri="{9D8B030D-6E8A-4147-A177-3AD203B41FA5}">
                      <a16:colId xmlns:a16="http://schemas.microsoft.com/office/drawing/2014/main" val="385005467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3618924391"/>
                    </a:ext>
                  </a:extLst>
                </a:gridCol>
                <a:gridCol w="2071821">
                  <a:extLst>
                    <a:ext uri="{9D8B030D-6E8A-4147-A177-3AD203B41FA5}">
                      <a16:colId xmlns:a16="http://schemas.microsoft.com/office/drawing/2014/main" val="3627047294"/>
                    </a:ext>
                  </a:extLst>
                </a:gridCol>
                <a:gridCol w="785290">
                  <a:extLst>
                    <a:ext uri="{9D8B030D-6E8A-4147-A177-3AD203B41FA5}">
                      <a16:colId xmlns:a16="http://schemas.microsoft.com/office/drawing/2014/main" val="372183959"/>
                    </a:ext>
                  </a:extLst>
                </a:gridCol>
              </a:tblGrid>
              <a:tr h="1730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Top 5 Keywords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Percent</a:t>
                      </a:r>
                    </a:p>
                  </a:txBody>
                  <a:tcPr anchor="ctr">
                    <a:solidFill>
                      <a:schemeClr val="bg2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423603"/>
                  </a:ext>
                </a:extLst>
              </a:tr>
              <a:tr h="8402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Teacher wellbeing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Refers to the mental health, professional satisfaction and working conditions of teachers and school staff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teacher, staff, workforce, professional, wellbeing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57%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554860"/>
                  </a:ext>
                </a:extLst>
              </a:tr>
              <a:tr h="5437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Pupil wellbeing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Refers to the emotional, mental and physical health of pupils and young people, including pastoral care and safeguarding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pupil, student, children, pastoral, safeguarding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51%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305662"/>
                  </a:ext>
                </a:extLst>
              </a:tr>
              <a:tr h="5437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Workload &amp; burnout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Refers to the pressures and demands of work that affect the mental and physical health of teachers and pupils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workload, burnout, stress, overwork, pressures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25%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24392"/>
                  </a:ext>
                </a:extLst>
              </a:tr>
              <a:tr h="6178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 &amp; reform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Refers to government and institutional responses to mental health in education, including guidance and regulatory frameworks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policy, government, DfE, reform, guidance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25%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11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Resilience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Refers to approaches that build emotional coping capacity, including mindfulness </a:t>
                      </a:r>
                      <a:r>
                        <a:rPr lang="en-US" sz="1400" kern="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programmes</a:t>
                      </a: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and resilience strategies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resilience, mindfulness, emotional, anxiety, coping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9%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786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359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14033-501F-AEA8-A9D4-6A60B9D8D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16"/>
          <a:stretch>
            <a:fillRect/>
          </a:stretch>
        </p:blipFill>
        <p:spPr>
          <a:xfrm>
            <a:off x="651395" y="610423"/>
            <a:ext cx="7841210" cy="44098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A2C004A-A0FA-A070-C53D-7E6D2EB0D829}"/>
              </a:ext>
            </a:extLst>
          </p:cNvPr>
          <p:cNvSpPr txBox="1">
            <a:spLocks/>
          </p:cNvSpPr>
          <p:nvPr/>
        </p:nvSpPr>
        <p:spPr>
          <a:xfrm>
            <a:off x="291401" y="123211"/>
            <a:ext cx="8572842" cy="974424"/>
          </a:xfrm>
          <a:prstGeom prst="rect">
            <a:avLst/>
          </a:prstGeom>
        </p:spPr>
        <p:txBody>
          <a:bodyPr/>
          <a:lstStyle>
            <a:lvl1pPr algn="l">
              <a:lnSpc>
                <a:spcPct val="85000"/>
              </a:lnSpc>
              <a:defRPr lang="en-US" sz="3000" b="1" i="0" kern="0" spc="-5" dirty="0">
                <a:solidFill>
                  <a:schemeClr val="bg2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defTabSz="914400"/>
            <a:r>
              <a:rPr lang="en-US" sz="2800" dirty="0"/>
              <a:t>Who dominates the discourse on EdTech?</a:t>
            </a:r>
          </a:p>
        </p:txBody>
      </p:sp>
    </p:spTree>
    <p:extLst>
      <p:ext uri="{BB962C8B-B14F-4D97-AF65-F5344CB8AC3E}">
        <p14:creationId xmlns:p14="http://schemas.microsoft.com/office/powerpoint/2010/main" val="2804960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9A64-7503-D52C-F946-A5EAEDA11A70}"/>
              </a:ext>
            </a:extLst>
          </p:cNvPr>
          <p:cNvSpPr txBox="1">
            <a:spLocks/>
          </p:cNvSpPr>
          <p:nvPr/>
        </p:nvSpPr>
        <p:spPr>
          <a:xfrm>
            <a:off x="291401" y="123211"/>
            <a:ext cx="8572842" cy="974424"/>
          </a:xfrm>
          <a:prstGeom prst="rect">
            <a:avLst/>
          </a:prstGeom>
        </p:spPr>
        <p:txBody>
          <a:bodyPr/>
          <a:lstStyle>
            <a:lvl1pPr algn="l">
              <a:lnSpc>
                <a:spcPct val="85000"/>
              </a:lnSpc>
              <a:defRPr lang="en-US" sz="3000" b="1" i="0" kern="0" spc="-5" dirty="0">
                <a:solidFill>
                  <a:schemeClr val="bg2"/>
                </a:solidFill>
                <a:latin typeface="Arial Black" panose="020B0604020202020204" pitchFamily="34" charset="0"/>
                <a:ea typeface="+mj-ea"/>
                <a:cs typeface="Arial Black" panose="020B0604020202020204" pitchFamily="34" charset="0"/>
              </a:defRPr>
            </a:lvl1pPr>
          </a:lstStyle>
          <a:p>
            <a:pPr defTabSz="914400"/>
            <a:r>
              <a:rPr lang="en-US" sz="2800" dirty="0"/>
              <a:t>Who dominates the discourse on EdTech?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8F483-029E-620B-45EE-C879935B1D61}"/>
              </a:ext>
            </a:extLst>
          </p:cNvPr>
          <p:cNvSpPr txBox="1"/>
          <p:nvPr/>
        </p:nvSpPr>
        <p:spPr>
          <a:xfrm>
            <a:off x="489857" y="669471"/>
            <a:ext cx="79683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/>
              <a:t>Key insights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UK Government and Schools Week dominate by volume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5Rights Foundation is small overall but almost exclusively EdTech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UCL and BERA are largely absent from EdTech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>
              <a:buNone/>
            </a:pPr>
            <a:r>
              <a:rPr lang="en-US" sz="1800" b="1" dirty="0"/>
              <a:t>Compared to TRRD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Both sections dominated by high-volume generalist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Academic organisations are more absent from EdTech than TRRD, the research voice is weaker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TRRD has a clearer academic vs media split; EdTech is more uniformly media and government 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NFER is the selective specialist in TRRD; 5Rights plays an equivalent but smaller role in EdTech</a:t>
            </a:r>
          </a:p>
        </p:txBody>
      </p:sp>
    </p:spTree>
    <p:extLst>
      <p:ext uri="{BB962C8B-B14F-4D97-AF65-F5344CB8AC3E}">
        <p14:creationId xmlns:p14="http://schemas.microsoft.com/office/powerpoint/2010/main" val="31665345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rkh8bjj7bva2x22h6cmhkp3irq9118"/>
</p:tagLst>
</file>

<file path=ppt/theme/theme1.xml><?xml version="1.0" encoding="utf-8"?>
<a:theme xmlns:a="http://schemas.openxmlformats.org/drawingml/2006/main" name="Office Theme">
  <a:themeElements>
    <a:clrScheme name="ESRC 1">
      <a:dk1>
        <a:srgbClr val="000000"/>
      </a:dk1>
      <a:lt1>
        <a:srgbClr val="FFFFFF"/>
      </a:lt1>
      <a:dk2>
        <a:srgbClr val="8DB9CA"/>
      </a:dk2>
      <a:lt2>
        <a:srgbClr val="002855"/>
      </a:lt2>
      <a:accent1>
        <a:srgbClr val="A3DBE8"/>
      </a:accent1>
      <a:accent2>
        <a:srgbClr val="3255A3"/>
      </a:accent2>
      <a:accent3>
        <a:srgbClr val="0097A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sz="1100"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tlCol="0">
        <a:noAutofit/>
      </a:bodyPr>
      <a:lstStyle>
        <a:defPPr algn="l">
          <a:spcAft>
            <a:spcPts val="1400"/>
          </a:spcAft>
          <a:defRPr sz="1100" dirty="0" err="1" smtClean="0">
            <a:solidFill>
              <a:schemeClr val="bg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6729</TotalTime>
  <Words>1216</Words>
  <Application>Microsoft Macintosh PowerPoint</Application>
  <PresentationFormat>On-screen Show (16:9)</PresentationFormat>
  <Paragraphs>179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Courier New</vt:lpstr>
      <vt:lpstr>UCL Sans</vt:lpstr>
      <vt:lpstr>Office Theme</vt:lpstr>
      <vt:lpstr> Mapping Teacher Recruitment, Retention and Development in the ERP Newsletter  30th March 2026  Louise Yorke l.yorke@ucl.ac.uk  </vt:lpstr>
      <vt:lpstr>PowerPoint Presentation</vt:lpstr>
      <vt:lpstr>Overview</vt:lpstr>
      <vt:lpstr>ERP Newsletter Overview </vt:lpstr>
      <vt:lpstr>PowerPoint Presentation</vt:lpstr>
      <vt:lpstr>Who dominates the discourse on TRRD?</vt:lpstr>
      <vt:lpstr>How is TRRD discussed?</vt:lpstr>
      <vt:lpstr>How TRRD is discussed: </vt:lpstr>
      <vt:lpstr>PowerPoint Presentation</vt:lpstr>
      <vt:lpstr>Discourse on TRRD over time </vt:lpstr>
      <vt:lpstr>How are teachers discussed across EdTech and Mental Health &amp; Wellbeing?</vt:lpstr>
      <vt:lpstr>Teachers in the EdTech Conversation </vt:lpstr>
      <vt:lpstr>Mental Health &amp; Wellbeing</vt:lpstr>
      <vt:lpstr>Summary and Key Insights</vt:lpstr>
      <vt:lpstr>Key Insights </vt:lpstr>
      <vt:lpstr>Extra Slides</vt:lpstr>
      <vt:lpstr>***EXTRA SLIDES***</vt:lpstr>
      <vt:lpstr>Teachers and Mental Health &amp; Wellbeing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Louise Yorke</cp:lastModifiedBy>
  <cp:revision>47</cp:revision>
  <dcterms:created xsi:type="dcterms:W3CDTF">2022-12-27T19:37:10Z</dcterms:created>
  <dcterms:modified xsi:type="dcterms:W3CDTF">2026-03-29T14:06:52Z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2022-12-27T00:00:00Z</vt:filetime>
  </property>
  <property fmtid="{D5CDD505-2E9C-101B-9397-08002B2CF9AE}" pid="3" name="Creator">
    <vt:lpwstr>Adobe InDesign 16.3 (Macintosh)</vt:lpwstr>
  </property>
  <property fmtid="{D5CDD505-2E9C-101B-9397-08002B2CF9AE}" pid="4" name="LastSaved">
    <vt:filetime>2022-12-27T00:00:00Z</vt:filetime>
  </property>
</Properties>
</file>